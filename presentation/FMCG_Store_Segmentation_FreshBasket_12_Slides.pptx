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711" autoAdjust="0"/>
  </p:normalViewPr>
  <p:slideViewPr>
    <p:cSldViewPr snapToGrid="0" snapToObjects="1">
      <p:cViewPr>
        <p:scale>
          <a:sx n="40" d="100"/>
          <a:sy n="40" d="100"/>
        </p:scale>
        <p:origin x="2290" y="117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62B3D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062B3D"/>
                </a:solidFill>
                <a:latin typeface="+mn-lt"/>
              </a:rPr>
              <a:t>Stores per cluster (761 total)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rgbClr val="6F80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00-4C82-B426-07CE51252A52}"/>
              </c:ext>
            </c:extLst>
          </c:dPt>
          <c:dPt>
            <c:idx val="1"/>
            <c:invertIfNegative val="0"/>
            <c:bubble3D val="0"/>
            <c:spPr>
              <a:solidFill>
                <a:srgbClr val="9CC5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00-4C82-B426-07CE51252A52}"/>
              </c:ext>
            </c:extLst>
          </c:dPt>
          <c:dPt>
            <c:idx val="2"/>
            <c:invertIfNegative val="0"/>
            <c:bubble3D val="0"/>
            <c:spPr>
              <a:solidFill>
                <a:srgbClr val="0069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00-4C82-B426-07CE51252A5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062B3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Cluster 0 (1.31%)</c:v>
                </c:pt>
                <c:pt idx="1">
                  <c:v>Cluster 1 (55.72%)</c:v>
                </c:pt>
                <c:pt idx="2">
                  <c:v>Cluster 2 (42.97%)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424</c:v>
                </c:pt>
                <c:pt idx="2">
                  <c:v>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00-4C82-B426-07CE51252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F80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43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Today I’m going to present my project, </a:t>
            </a:r>
            <a:r>
              <a:rPr lang="en-IN" b="1" dirty="0"/>
              <a:t>FRESHBASKET Store Intelligence — FMCG Retail Store Segmentation Using Clustering</a:t>
            </a:r>
            <a:r>
              <a:rPr lang="en-IN" dirty="0"/>
              <a:t>.</a:t>
            </a:r>
          </a:p>
          <a:p>
            <a:r>
              <a:rPr lang="en-IN" dirty="0"/>
              <a:t>The main objective of this project is to understand different store </a:t>
            </a:r>
            <a:r>
              <a:rPr lang="en-IN" dirty="0" err="1"/>
              <a:t>behaviors</a:t>
            </a:r>
            <a:r>
              <a:rPr lang="en-IN" dirty="0"/>
              <a:t> from transaction data and convert those </a:t>
            </a:r>
            <a:r>
              <a:rPr lang="en-IN" dirty="0" err="1"/>
              <a:t>behaviors</a:t>
            </a:r>
            <a:r>
              <a:rPr lang="en-IN" dirty="0"/>
              <a:t> into meaningful and actionable store segments.</a:t>
            </a:r>
          </a:p>
          <a:p>
            <a:r>
              <a:rPr lang="en-IN" dirty="0"/>
              <a:t>The key idea behind this project is </a:t>
            </a:r>
            <a:r>
              <a:rPr lang="en-IN" b="1" dirty="0"/>
              <a:t>one network, three </a:t>
            </a:r>
            <a:r>
              <a:rPr lang="en-IN" b="1" dirty="0" err="1"/>
              <a:t>behaviors</a:t>
            </a:r>
            <a:r>
              <a:rPr lang="en-IN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“We have </a:t>
            </a:r>
            <a:r>
              <a:rPr lang="en-IN" b="1" dirty="0"/>
              <a:t>761 stores</a:t>
            </a:r>
            <a:r>
              <a:rPr lang="en-IN" dirty="0"/>
              <a:t> in the FMCG network, but not every store behaves in the same way.</a:t>
            </a:r>
          </a:p>
          <a:p>
            <a:r>
              <a:rPr lang="en-IN" dirty="0"/>
              <a:t>Stores can differ in terms of sales scale, transaction activity, product breadth, spending patterns, and consistency.</a:t>
            </a:r>
          </a:p>
          <a:p>
            <a:r>
              <a:rPr lang="en-IN" dirty="0"/>
              <a:t>If we apply the same strategy to every store, it may lead to inefficient assortment decisions, promotions, sales attention, and resource allocation.</a:t>
            </a:r>
          </a:p>
          <a:p>
            <a:r>
              <a:rPr lang="en-IN" dirty="0"/>
              <a:t>So the core question of this project was:</a:t>
            </a:r>
          </a:p>
          <a:p>
            <a:r>
              <a:rPr lang="en-IN" b="1" dirty="0"/>
              <a:t>Can we identify naturally occurring store </a:t>
            </a:r>
            <a:r>
              <a:rPr lang="en-IN" b="1" dirty="0" err="1"/>
              <a:t>behavior</a:t>
            </a:r>
            <a:r>
              <a:rPr lang="en-IN" b="1" dirty="0"/>
              <a:t> patterns and turn them into actionable segments?</a:t>
            </a:r>
            <a:r>
              <a:rPr lang="en-IN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“To answer this question, I started with approximately </a:t>
            </a:r>
            <a:r>
              <a:rPr lang="en-IN" b="1" dirty="0"/>
              <a:t>31 million transaction rows across 117 transaction files</a:t>
            </a:r>
            <a:r>
              <a:rPr lang="en-IN" dirty="0"/>
              <a:t>.</a:t>
            </a:r>
          </a:p>
          <a:p>
            <a:r>
              <a:rPr lang="en-IN" dirty="0"/>
              <a:t>Instead of clustering individual transactions, I aggregated the data at the </a:t>
            </a:r>
            <a:r>
              <a:rPr lang="en-IN" b="1" dirty="0"/>
              <a:t>store level</a:t>
            </a:r>
            <a:r>
              <a:rPr lang="en-IN" dirty="0"/>
              <a:t>, because the objective was to understand store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This resulted in </a:t>
            </a:r>
            <a:r>
              <a:rPr lang="en-IN" b="1" dirty="0"/>
              <a:t>761 store profiles</a:t>
            </a:r>
            <a:r>
              <a:rPr lang="en-IN" dirty="0"/>
              <a:t>, where each store was represented using </a:t>
            </a:r>
            <a:r>
              <a:rPr lang="en-IN" dirty="0" err="1"/>
              <a:t>behavioral</a:t>
            </a:r>
            <a:r>
              <a:rPr lang="en-IN" dirty="0"/>
              <a:t> features.</a:t>
            </a:r>
          </a:p>
          <a:p>
            <a:r>
              <a:rPr lang="en-IN" dirty="0"/>
              <a:t>One important data-quality issue was substantial missingness in the customer code. Because of this, I did not rely on customer-level analysis as a primary clustering dimension.</a:t>
            </a:r>
          </a:p>
          <a:p>
            <a:r>
              <a:rPr lang="en-IN" dirty="0"/>
              <a:t>So the overall transformation was:</a:t>
            </a:r>
          </a:p>
          <a:p>
            <a:r>
              <a:rPr lang="en-IN" b="1" dirty="0"/>
              <a:t>Raw transactions, store-level aggregation, </a:t>
            </a:r>
            <a:r>
              <a:rPr lang="en-IN" b="1" dirty="0" err="1"/>
              <a:t>behavioral</a:t>
            </a:r>
            <a:r>
              <a:rPr lang="en-IN" b="1" dirty="0"/>
              <a:t> features, and finally 761 store profiles.</a:t>
            </a:r>
            <a:r>
              <a:rPr lang="en-IN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“Next, I focused on representing store </a:t>
            </a:r>
            <a:r>
              <a:rPr lang="en-IN" dirty="0" err="1"/>
              <a:t>behavior</a:t>
            </a:r>
            <a:r>
              <a:rPr lang="en-IN" dirty="0"/>
              <a:t> through meaningful features.</a:t>
            </a:r>
          </a:p>
          <a:p>
            <a:r>
              <a:rPr lang="en-IN" dirty="0"/>
              <a:t>I grouped the features into three main dimensions.</a:t>
            </a:r>
          </a:p>
          <a:p>
            <a:r>
              <a:rPr lang="en-IN" dirty="0"/>
              <a:t>The first was </a:t>
            </a:r>
            <a:r>
              <a:rPr lang="en-IN" b="1" dirty="0"/>
              <a:t>scale</a:t>
            </a:r>
            <a:r>
              <a:rPr lang="en-IN" dirty="0"/>
              <a:t>, using total spend and average spend.</a:t>
            </a:r>
          </a:p>
          <a:p>
            <a:r>
              <a:rPr lang="en-IN" dirty="0"/>
              <a:t>The second was </a:t>
            </a:r>
            <a:r>
              <a:rPr lang="en-IN" b="1" dirty="0"/>
              <a:t>activity</a:t>
            </a:r>
            <a:r>
              <a:rPr lang="en-IN" dirty="0"/>
              <a:t>, using basket activity and observed active weeks.</a:t>
            </a:r>
          </a:p>
          <a:p>
            <a:r>
              <a:rPr lang="en-IN" dirty="0"/>
              <a:t>The third was </a:t>
            </a:r>
            <a:r>
              <a:rPr lang="en-IN" b="1" dirty="0"/>
              <a:t>volatility</a:t>
            </a:r>
            <a:r>
              <a:rPr lang="en-IN" dirty="0"/>
              <a:t>, using spend volatility and spend coefficient of variation.</a:t>
            </a:r>
          </a:p>
          <a:p>
            <a:r>
              <a:rPr lang="en-IN" dirty="0"/>
              <a:t>I also removed highly correlated redundant features to avoid giving excessive importance to similar information.</a:t>
            </a:r>
          </a:p>
          <a:p>
            <a:r>
              <a:rPr lang="en-IN" dirty="0"/>
              <a:t>Finally, I applied a </a:t>
            </a:r>
            <a:r>
              <a:rPr lang="en-IN" b="1" dirty="0"/>
              <a:t>Log1p transformation followed by </a:t>
            </a:r>
            <a:r>
              <a:rPr lang="en-IN" b="1" dirty="0" err="1"/>
              <a:t>StandardScaler</a:t>
            </a:r>
            <a:r>
              <a:rPr lang="en-IN" dirty="0"/>
              <a:t> to create the clustering-ready feature space.</a:t>
            </a:r>
          </a:p>
          <a:p>
            <a:r>
              <a:rPr lang="en-IN" dirty="0"/>
              <a:t>So, the important point here is that </a:t>
            </a:r>
            <a:r>
              <a:rPr lang="en-IN" b="1" dirty="0"/>
              <a:t>we clustered </a:t>
            </a:r>
            <a:r>
              <a:rPr lang="en-IN" b="1" dirty="0" err="1"/>
              <a:t>behavior</a:t>
            </a:r>
            <a:r>
              <a:rPr lang="en-IN" b="1" dirty="0"/>
              <a:t>, not raw transactions</a:t>
            </a:r>
            <a:r>
              <a:rPr lang="en-IN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“The overall clustering workflow consisted of several stages.</a:t>
            </a:r>
          </a:p>
          <a:p>
            <a:r>
              <a:rPr lang="en-IN" dirty="0"/>
              <a:t>I started with feature engineering, followed by transformation and scaling.</a:t>
            </a:r>
          </a:p>
          <a:p>
            <a:r>
              <a:rPr lang="en-IN" dirty="0"/>
              <a:t>Then I evaluated different candidate clustering solutions and compared </a:t>
            </a:r>
            <a:r>
              <a:rPr lang="en-IN" b="1" dirty="0"/>
              <a:t>K-Means with Agglomerative or Ward clustering</a:t>
            </a:r>
            <a:r>
              <a:rPr lang="en-IN" dirty="0"/>
              <a:t>.</a:t>
            </a:r>
          </a:p>
          <a:p>
            <a:r>
              <a:rPr lang="en-IN" dirty="0"/>
              <a:t>For clustering quality, I considered </a:t>
            </a:r>
            <a:r>
              <a:rPr lang="en-IN" b="1" dirty="0"/>
              <a:t>Silhouette, Davies-Bouldin, and </a:t>
            </a:r>
            <a:r>
              <a:rPr lang="en-IN" b="1" dirty="0" err="1"/>
              <a:t>Calinski-Harabasz</a:t>
            </a:r>
            <a:r>
              <a:rPr lang="en-IN" dirty="0"/>
              <a:t>.</a:t>
            </a:r>
          </a:p>
          <a:p>
            <a:r>
              <a:rPr lang="en-IN" dirty="0"/>
              <a:t>I also performed stability analysis using </a:t>
            </a:r>
            <a:r>
              <a:rPr lang="en-IN" b="1" dirty="0"/>
              <a:t>ARI across random seeds</a:t>
            </a:r>
            <a:r>
              <a:rPr lang="en-IN" dirty="0"/>
              <a:t>, because a good segmentation should not change drastically with small changes in initialization.</a:t>
            </a:r>
          </a:p>
          <a:p>
            <a:r>
              <a:rPr lang="en-IN" dirty="0"/>
              <a:t>Finally, I profiled the resulting clusters from a business perspective.</a:t>
            </a:r>
          </a:p>
          <a:p>
            <a:r>
              <a:rPr lang="en-IN" dirty="0"/>
              <a:t>PCA was used only for visualization and was not used as an input to the clustering model.”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“This was one of the most important decisions in the project.</a:t>
            </a:r>
          </a:p>
          <a:p>
            <a:r>
              <a:rPr lang="en-IN" dirty="0"/>
              <a:t>Interestingly, </a:t>
            </a:r>
            <a:r>
              <a:rPr lang="en-IN" b="1" dirty="0"/>
              <a:t>k equals 2 had a higher Silhouette score of 0.7213</a:t>
            </a:r>
            <a:r>
              <a:rPr lang="en-IN" dirty="0"/>
              <a:t> compared with 0.4857 for k equals 3.</a:t>
            </a:r>
          </a:p>
          <a:p>
            <a:r>
              <a:rPr lang="en-IN" dirty="0"/>
              <a:t>However, when I looked beyond the Silhouette score, I found that approximately </a:t>
            </a:r>
            <a:r>
              <a:rPr lang="en-IN" b="1" dirty="0"/>
              <a:t>98 percent of the stores were concentrated in one cluster</a:t>
            </a:r>
            <a:r>
              <a:rPr lang="en-IN" dirty="0"/>
              <a:t>.</a:t>
            </a:r>
          </a:p>
          <a:p>
            <a:r>
              <a:rPr lang="en-IN" dirty="0"/>
              <a:t>Its mean ARI was also only around </a:t>
            </a:r>
            <a:r>
              <a:rPr lang="en-IN" b="1" dirty="0"/>
              <a:t>0.16</a:t>
            </a:r>
            <a:r>
              <a:rPr lang="en-IN" dirty="0"/>
              <a:t>, indicating poor stability.</a:t>
            </a:r>
          </a:p>
          <a:p>
            <a:r>
              <a:rPr lang="en-IN" dirty="0"/>
              <a:t>So although k equals 2 had better mathematical separation, it did not provide a useful business segmentation.</a:t>
            </a:r>
          </a:p>
          <a:p>
            <a:r>
              <a:rPr lang="en-IN" dirty="0"/>
              <a:t>With </a:t>
            </a:r>
            <a:r>
              <a:rPr lang="en-IN" b="1" dirty="0"/>
              <a:t>k equals 3</a:t>
            </a:r>
            <a:r>
              <a:rPr lang="en-IN" dirty="0"/>
              <a:t>, the Silhouette was 0.4857, but the mean ARI improved substantially to </a:t>
            </a:r>
            <a:r>
              <a:rPr lang="en-IN" b="1" dirty="0"/>
              <a:t>0.7853</a:t>
            </a:r>
            <a:r>
              <a:rPr lang="en-IN" dirty="0"/>
              <a:t>, and the largest cluster represented only </a:t>
            </a:r>
            <a:r>
              <a:rPr lang="en-IN" b="1" dirty="0"/>
              <a:t>55.72 percent</a:t>
            </a:r>
            <a:r>
              <a:rPr lang="en-IN" dirty="0"/>
              <a:t> of stores.</a:t>
            </a:r>
          </a:p>
          <a:p>
            <a:r>
              <a:rPr lang="en-IN" dirty="0"/>
              <a:t>Therefore, I selected </a:t>
            </a:r>
            <a:r>
              <a:rPr lang="en-IN" b="1" dirty="0"/>
              <a:t>K-Means with three clusters</a:t>
            </a:r>
            <a:r>
              <a:rPr lang="en-IN" dirty="0"/>
              <a:t> because it provided a better balance of stability, structure, and business interpretability.</a:t>
            </a:r>
          </a:p>
          <a:p>
            <a:r>
              <a:rPr lang="en-IN" dirty="0"/>
              <a:t>The key takeaway is that </a:t>
            </a:r>
            <a:r>
              <a:rPr lang="en-IN" b="1" dirty="0"/>
              <a:t>the highest clustering score does not always mean the best business solution</a:t>
            </a:r>
            <a:r>
              <a:rPr lang="en-IN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“The final model produced three distinct store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r>
              <a:rPr lang="en-IN" dirty="0"/>
              <a:t>The first is </a:t>
            </a:r>
            <a:r>
              <a:rPr lang="en-IN" b="1" dirty="0"/>
              <a:t>Cluster 0, Intermittent or High Volatility</a:t>
            </a:r>
            <a:r>
              <a:rPr lang="en-IN" dirty="0"/>
              <a:t>.</a:t>
            </a:r>
          </a:p>
          <a:p>
            <a:r>
              <a:rPr lang="en-IN" dirty="0"/>
              <a:t>It contains </a:t>
            </a:r>
            <a:r>
              <a:rPr lang="en-IN" b="1" dirty="0"/>
              <a:t>10 stores, or 1.31 percent</a:t>
            </a:r>
            <a:r>
              <a:rPr lang="en-IN" dirty="0"/>
              <a:t> of the network. These stores show intermittent observed activity and unusually high spend volatility.</a:t>
            </a:r>
          </a:p>
          <a:p>
            <a:r>
              <a:rPr lang="en-IN" dirty="0"/>
              <a:t>The second is </a:t>
            </a:r>
            <a:r>
              <a:rPr lang="en-IN" b="1" dirty="0"/>
              <a:t>Cluster 1, High Volume</a:t>
            </a:r>
            <a:r>
              <a:rPr lang="en-IN" dirty="0"/>
              <a:t>.</a:t>
            </a:r>
          </a:p>
          <a:p>
            <a:r>
              <a:rPr lang="en-IN" dirty="0"/>
              <a:t>This is the largest segment, with </a:t>
            </a:r>
            <a:r>
              <a:rPr lang="en-IN" b="1" dirty="0"/>
              <a:t>424 stores, or 55.72 percent</a:t>
            </a:r>
            <a:r>
              <a:rPr lang="en-IN" dirty="0"/>
              <a:t>. These stores show high overall sales, broad activity or product mix, and consistent activity.</a:t>
            </a:r>
          </a:p>
          <a:p>
            <a:r>
              <a:rPr lang="en-IN" dirty="0"/>
              <a:t>The third is </a:t>
            </a:r>
            <a:r>
              <a:rPr lang="en-IN" b="1" dirty="0"/>
              <a:t>Cluster 2, Low Volume</a:t>
            </a:r>
            <a:r>
              <a:rPr lang="en-IN" dirty="0"/>
              <a:t>.</a:t>
            </a:r>
          </a:p>
          <a:p>
            <a:r>
              <a:rPr lang="en-IN" dirty="0"/>
              <a:t>It contains </a:t>
            </a:r>
            <a:r>
              <a:rPr lang="en-IN" b="1" dirty="0"/>
              <a:t>327 stores, or 42.97 percent</a:t>
            </a:r>
            <a:r>
              <a:rPr lang="en-IN" dirty="0"/>
              <a:t>. These stores have lower overall sales and transaction activity, while maintaining relatively consistent operation.</a:t>
            </a:r>
          </a:p>
          <a:p>
            <a:r>
              <a:rPr lang="en-IN" dirty="0"/>
              <a:t>These labels describe the observed </a:t>
            </a:r>
            <a:r>
              <a:rPr lang="en-IN" dirty="0" err="1"/>
              <a:t>behavioral</a:t>
            </a:r>
            <a:r>
              <a:rPr lang="en-IN" dirty="0"/>
              <a:t> patterns in the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“This chart shows how the stores are distributed across the three segments.</a:t>
            </a:r>
          </a:p>
          <a:p>
            <a:r>
              <a:rPr lang="en-IN" dirty="0"/>
              <a:t>The </a:t>
            </a:r>
            <a:r>
              <a:rPr lang="en-IN" b="1" dirty="0"/>
              <a:t>High Volume segment dominates the network with 424 stores</a:t>
            </a:r>
            <a:r>
              <a:rPr lang="en-IN" dirty="0"/>
              <a:t>, while the Low Volume segment forms another substantial group with 327 stores.</a:t>
            </a:r>
          </a:p>
          <a:p>
            <a:r>
              <a:rPr lang="en-IN" dirty="0"/>
              <a:t>The Intermittent or High Volatility segment is much smaller, with only 10 stores, but it represents a structurally distinct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The final model achieved a </a:t>
            </a:r>
            <a:r>
              <a:rPr lang="en-IN" b="1" dirty="0"/>
              <a:t>Silhouette score of 0.4857</a:t>
            </a:r>
            <a:r>
              <a:rPr lang="en-IN" dirty="0"/>
              <a:t>, a </a:t>
            </a:r>
            <a:r>
              <a:rPr lang="en-IN" b="1" dirty="0"/>
              <a:t>Davies-Bouldin score of 0.6703</a:t>
            </a:r>
            <a:r>
              <a:rPr lang="en-IN" dirty="0"/>
              <a:t>, and a </a:t>
            </a:r>
            <a:r>
              <a:rPr lang="en-IN" b="1" dirty="0" err="1"/>
              <a:t>Calinski-Harabasz</a:t>
            </a:r>
            <a:r>
              <a:rPr lang="en-IN" b="1" dirty="0"/>
              <a:t> score of 434.2773</a:t>
            </a:r>
            <a:r>
              <a:rPr lang="en-IN" dirty="0"/>
              <a:t>.</a:t>
            </a:r>
          </a:p>
          <a:p>
            <a:r>
              <a:rPr lang="en-IN" dirty="0"/>
              <a:t>Most importantly, the mean ARI was </a:t>
            </a:r>
            <a:r>
              <a:rPr lang="en-IN" b="1" dirty="0"/>
              <a:t>0.7853</a:t>
            </a:r>
            <a:r>
              <a:rPr lang="en-IN" dirty="0"/>
              <a:t>, indicating good stability across different random seeds.</a:t>
            </a:r>
          </a:p>
          <a:p>
            <a:r>
              <a:rPr lang="en-IN" dirty="0"/>
              <a:t>So these metrics together support the final segmentation rather than relying on a single metric.”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“After creating the segments, I also identified stores whose </a:t>
            </a:r>
            <a:r>
              <a:rPr lang="en-IN" dirty="0" err="1"/>
              <a:t>behavior</a:t>
            </a:r>
            <a:r>
              <a:rPr lang="en-IN" dirty="0"/>
              <a:t> was unusual even within their assigned segment.</a:t>
            </a:r>
          </a:p>
          <a:p>
            <a:r>
              <a:rPr lang="en-IN" dirty="0"/>
              <a:t>The analysis identified </a:t>
            </a:r>
            <a:r>
              <a:rPr lang="en-IN" b="1" dirty="0"/>
              <a:t>38 structural outliers out of 761 stores</a:t>
            </a:r>
            <a:r>
              <a:rPr lang="en-IN" dirty="0"/>
              <a:t>.</a:t>
            </a:r>
          </a:p>
          <a:p>
            <a:r>
              <a:rPr lang="en-IN" dirty="0"/>
              <a:t>These stores have feature profiles that are unusual relative to their assigned cluster.</a:t>
            </a:r>
          </a:p>
          <a:p>
            <a:r>
              <a:rPr lang="en-IN" dirty="0"/>
              <a:t>An important point is that </a:t>
            </a:r>
            <a:r>
              <a:rPr lang="en-IN" b="1" dirty="0"/>
              <a:t>an outlier is not automatically a poor-performing store</a:t>
            </a:r>
            <a:r>
              <a:rPr lang="en-IN" dirty="0"/>
              <a:t>.</a:t>
            </a:r>
          </a:p>
          <a:p>
            <a:r>
              <a:rPr lang="en-IN" dirty="0"/>
              <a:t>These stores could represent unusual operating patterns, data-coverage issues, exceptional store scale, or local business conditions.</a:t>
            </a:r>
          </a:p>
          <a:p>
            <a:r>
              <a:rPr lang="en-IN" dirty="0"/>
              <a:t>However, these are areas for investigation, not proven causes.</a:t>
            </a:r>
          </a:p>
          <a:p>
            <a:r>
              <a:rPr lang="en-IN" dirty="0"/>
              <a:t>So the purpose of this analysis is to help the business identify stores that deserve deeper investigation.”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“The ultimate purpose of segmentation is to support better business decisions.</a:t>
            </a:r>
          </a:p>
          <a:p>
            <a:r>
              <a:rPr lang="en-IN" dirty="0"/>
              <a:t>For </a:t>
            </a:r>
            <a:r>
              <a:rPr lang="en-IN" b="1" dirty="0"/>
              <a:t>Cluster 0, Intermittent or High Volatility</a:t>
            </a:r>
            <a:r>
              <a:rPr lang="en-IN" dirty="0"/>
              <a:t>, I would first investigate unusual activity and data coverage before applying standard strategies.</a:t>
            </a:r>
          </a:p>
          <a:p>
            <a:r>
              <a:rPr lang="en-IN" dirty="0"/>
              <a:t>For </a:t>
            </a:r>
            <a:r>
              <a:rPr lang="en-IN" b="1" dirty="0"/>
              <a:t>Cluster 1, High Volume</a:t>
            </a:r>
            <a:r>
              <a:rPr lang="en-IN" dirty="0"/>
              <a:t>, the observed </a:t>
            </a:r>
            <a:r>
              <a:rPr lang="en-IN" dirty="0" err="1"/>
              <a:t>behavior</a:t>
            </a:r>
            <a:r>
              <a:rPr lang="en-IN" dirty="0"/>
              <a:t> suggests prioritizing service levels, assortment breadth, and targeted commercial initiatives, subject to further validation.</a:t>
            </a:r>
          </a:p>
          <a:p>
            <a:r>
              <a:rPr lang="en-IN" dirty="0"/>
              <a:t>For </a:t>
            </a:r>
            <a:r>
              <a:rPr lang="en-IN" b="1" dirty="0"/>
              <a:t>Cluster 2, Low Volume</a:t>
            </a:r>
            <a:r>
              <a:rPr lang="en-IN" dirty="0"/>
              <a:t>, the focus could be on efficient assortment, cost-conscious execution, and selective growth opportunities.</a:t>
            </a:r>
          </a:p>
          <a:p>
            <a:r>
              <a:rPr lang="en-IN" dirty="0"/>
              <a:t>These are management directions to validate, rather than causal conclusions, because the current dataset does not directly measure factors such as promotion ROI or inventory availability.”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“The current segmentation is primarily based on </a:t>
            </a:r>
            <a:r>
              <a:rPr lang="en-IN" b="1" dirty="0"/>
              <a:t>sales and activity </a:t>
            </a:r>
            <a:r>
              <a:rPr lang="en-IN" b="1" dirty="0" err="1"/>
              <a:t>behavior</a:t>
            </a:r>
            <a:r>
              <a:rPr lang="en-IN" dirty="0"/>
              <a:t> available in the transaction data.</a:t>
            </a:r>
          </a:p>
          <a:p>
            <a:r>
              <a:rPr lang="en-IN" dirty="0"/>
              <a:t>Some important dimensions were not directly </a:t>
            </a:r>
            <a:r>
              <a:rPr lang="en-IN" dirty="0" err="1"/>
              <a:t>modeled</a:t>
            </a:r>
            <a:r>
              <a:rPr lang="en-IN" dirty="0"/>
              <a:t>, including promotion response, detailed pricing </a:t>
            </a:r>
            <a:r>
              <a:rPr lang="en-IN" dirty="0" err="1"/>
              <a:t>behavior</a:t>
            </a:r>
            <a:r>
              <a:rPr lang="en-IN" dirty="0"/>
              <a:t>, inventory and stockout variables, and distribution information.</a:t>
            </a:r>
          </a:p>
          <a:p>
            <a:r>
              <a:rPr lang="en-IN" dirty="0"/>
              <a:t>I deliberately did not create or assume these features because they were not available in the retained analytical data.</a:t>
            </a:r>
          </a:p>
          <a:p>
            <a:r>
              <a:rPr lang="en-IN" dirty="0"/>
              <a:t>As a next step, the project could be enhanced by adding </a:t>
            </a:r>
            <a:r>
              <a:rPr lang="en-IN" b="1" dirty="0"/>
              <a:t>promotion response, price elasticity, inventory </a:t>
            </a:r>
            <a:r>
              <a:rPr lang="en-IN" b="1" dirty="0" err="1"/>
              <a:t>behavior</a:t>
            </a:r>
            <a:r>
              <a:rPr lang="en-IN" b="1" dirty="0"/>
              <a:t>, geographic and distribution signals, category or premium-value mix, and time-aware segmentation</a:t>
            </a:r>
            <a:r>
              <a:rPr lang="en-IN" dirty="0"/>
              <a:t>.</a:t>
            </a:r>
          </a:p>
          <a:p>
            <a:r>
              <a:rPr lang="en-IN" dirty="0"/>
              <a:t>These additional features could eventually support automated segment-level recommendations.</a:t>
            </a:r>
          </a:p>
          <a:p>
            <a:r>
              <a:rPr lang="en-IN" dirty="0"/>
              <a:t>So the current model provides a strong </a:t>
            </a:r>
            <a:r>
              <a:rPr lang="en-IN" dirty="0" err="1"/>
              <a:t>behavioral</a:t>
            </a:r>
            <a:r>
              <a:rPr lang="en-IN" dirty="0"/>
              <a:t> foundation that can be expanded with richer business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“To conclude, I started with approximately </a:t>
            </a:r>
            <a:r>
              <a:rPr lang="en-IN" b="1" dirty="0"/>
              <a:t>31 million transaction records</a:t>
            </a:r>
            <a:r>
              <a:rPr lang="en-IN" dirty="0"/>
              <a:t> and transformed them into </a:t>
            </a:r>
            <a:r>
              <a:rPr lang="en-IN" b="1" dirty="0"/>
              <a:t>761 store-level </a:t>
            </a:r>
            <a:r>
              <a:rPr lang="en-IN" b="1" dirty="0" err="1"/>
              <a:t>behavioral</a:t>
            </a:r>
            <a:r>
              <a:rPr lang="en-IN" b="1" dirty="0"/>
              <a:t> profiles</a:t>
            </a:r>
            <a:r>
              <a:rPr lang="en-IN" dirty="0"/>
              <a:t>.</a:t>
            </a:r>
          </a:p>
          <a:p>
            <a:r>
              <a:rPr lang="en-IN" dirty="0"/>
              <a:t>After feature engineering, preprocessing, model comparison, and stability analysis, I selected </a:t>
            </a:r>
            <a:r>
              <a:rPr lang="en-IN" b="1" dirty="0"/>
              <a:t>K-Means with three clusters</a:t>
            </a:r>
            <a:r>
              <a:rPr lang="en-IN" dirty="0"/>
              <a:t>.</a:t>
            </a:r>
          </a:p>
          <a:p>
            <a:r>
              <a:rPr lang="en-IN" dirty="0"/>
              <a:t>The final segmentation consists of </a:t>
            </a:r>
            <a:r>
              <a:rPr lang="en-IN" b="1" dirty="0"/>
              <a:t>10 Intermittent or High Volatility stores, 424 High Volume stores, and 327 Low Volume stores</a:t>
            </a:r>
            <a:r>
              <a:rPr lang="en-IN" dirty="0"/>
              <a:t>.</a:t>
            </a:r>
          </a:p>
          <a:p>
            <a:r>
              <a:rPr lang="en-IN" dirty="0"/>
              <a:t>The model achieved a </a:t>
            </a:r>
            <a:r>
              <a:rPr lang="en-IN" b="1" dirty="0"/>
              <a:t>Silhouette score of 0.4857</a:t>
            </a:r>
            <a:r>
              <a:rPr lang="en-IN" dirty="0"/>
              <a:t> and a </a:t>
            </a:r>
            <a:r>
              <a:rPr lang="en-IN" b="1" dirty="0"/>
              <a:t>mean ARI of 0.7853</a:t>
            </a:r>
            <a:r>
              <a:rPr lang="en-IN" dirty="0"/>
              <a:t>, with </a:t>
            </a:r>
            <a:r>
              <a:rPr lang="en-IN" b="1" dirty="0"/>
              <a:t>38 structural outliers</a:t>
            </a:r>
            <a:r>
              <a:rPr lang="en-IN" dirty="0"/>
              <a:t> identified for further investigation.</a:t>
            </a:r>
          </a:p>
          <a:p>
            <a:r>
              <a:rPr lang="en-IN" dirty="0"/>
              <a:t>But the main value of this project is not simply clustering the stores.</a:t>
            </a:r>
          </a:p>
          <a:p>
            <a:r>
              <a:rPr lang="en-IN" dirty="0"/>
              <a:t>It is providing the business with a structured way to understand different store </a:t>
            </a:r>
            <a:r>
              <a:rPr lang="en-IN" dirty="0" err="1"/>
              <a:t>behaviors</a:t>
            </a:r>
            <a:r>
              <a:rPr lang="en-IN" dirty="0"/>
              <a:t> and decide where different strategies may be appropriate.</a:t>
            </a:r>
          </a:p>
          <a:p>
            <a:r>
              <a:rPr lang="en-IN" b="1" dirty="0"/>
              <a:t>From transactions to store intelligence.</a:t>
            </a:r>
            <a:endParaRPr lang="en-IN" dirty="0"/>
          </a:p>
          <a:p>
            <a:r>
              <a:rPr lang="en-IN" dirty="0"/>
              <a:t>Thank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FRESHBASKET STORE INTELLIGENCE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FRESHBASKET STORE INTELLIGENCE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FRESHBASKET STORE INTELLIGENCE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ore dot 1"/>
          <p:cNvSpPr/>
          <p:nvPr/>
        </p:nvSpPr>
        <p:spPr>
          <a:xfrm>
            <a:off x="630936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tore dot 2"/>
          <p:cNvSpPr/>
          <p:nvPr/>
        </p:nvSpPr>
        <p:spPr>
          <a:xfrm>
            <a:off x="648309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tore dot 3"/>
          <p:cNvSpPr/>
          <p:nvPr/>
        </p:nvSpPr>
        <p:spPr>
          <a:xfrm>
            <a:off x="665683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tore dot 4"/>
          <p:cNvSpPr/>
          <p:nvPr/>
        </p:nvSpPr>
        <p:spPr>
          <a:xfrm>
            <a:off x="683056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tore dot 5"/>
          <p:cNvSpPr/>
          <p:nvPr/>
        </p:nvSpPr>
        <p:spPr>
          <a:xfrm>
            <a:off x="700430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tore dot 6"/>
          <p:cNvSpPr/>
          <p:nvPr/>
        </p:nvSpPr>
        <p:spPr>
          <a:xfrm>
            <a:off x="717804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tore dot 7"/>
          <p:cNvSpPr/>
          <p:nvPr/>
        </p:nvSpPr>
        <p:spPr>
          <a:xfrm>
            <a:off x="735177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tore dot 8"/>
          <p:cNvSpPr/>
          <p:nvPr/>
        </p:nvSpPr>
        <p:spPr>
          <a:xfrm>
            <a:off x="752551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tore dot 9"/>
          <p:cNvSpPr/>
          <p:nvPr/>
        </p:nvSpPr>
        <p:spPr>
          <a:xfrm>
            <a:off x="769924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tore dot 10"/>
          <p:cNvSpPr/>
          <p:nvPr/>
        </p:nvSpPr>
        <p:spPr>
          <a:xfrm>
            <a:off x="787298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tore dot 11"/>
          <p:cNvSpPr/>
          <p:nvPr/>
        </p:nvSpPr>
        <p:spPr>
          <a:xfrm>
            <a:off x="804672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tore dot 12"/>
          <p:cNvSpPr/>
          <p:nvPr/>
        </p:nvSpPr>
        <p:spPr>
          <a:xfrm>
            <a:off x="822045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ore dot 13"/>
          <p:cNvSpPr/>
          <p:nvPr/>
        </p:nvSpPr>
        <p:spPr>
          <a:xfrm>
            <a:off x="839419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tore dot 14"/>
          <p:cNvSpPr/>
          <p:nvPr/>
        </p:nvSpPr>
        <p:spPr>
          <a:xfrm>
            <a:off x="856792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tore dot 15"/>
          <p:cNvSpPr/>
          <p:nvPr/>
        </p:nvSpPr>
        <p:spPr>
          <a:xfrm>
            <a:off x="874166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tore dot 16"/>
          <p:cNvSpPr/>
          <p:nvPr/>
        </p:nvSpPr>
        <p:spPr>
          <a:xfrm>
            <a:off x="891540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tore dot 17"/>
          <p:cNvSpPr/>
          <p:nvPr/>
        </p:nvSpPr>
        <p:spPr>
          <a:xfrm>
            <a:off x="908913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ore dot 18"/>
          <p:cNvSpPr/>
          <p:nvPr/>
        </p:nvSpPr>
        <p:spPr>
          <a:xfrm>
            <a:off x="926287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tore dot 19"/>
          <p:cNvSpPr/>
          <p:nvPr/>
        </p:nvSpPr>
        <p:spPr>
          <a:xfrm>
            <a:off x="943660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tore dot 20"/>
          <p:cNvSpPr/>
          <p:nvPr/>
        </p:nvSpPr>
        <p:spPr>
          <a:xfrm>
            <a:off x="961034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tore dot 21"/>
          <p:cNvSpPr/>
          <p:nvPr/>
        </p:nvSpPr>
        <p:spPr>
          <a:xfrm>
            <a:off x="978408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tore dot 22"/>
          <p:cNvSpPr/>
          <p:nvPr/>
        </p:nvSpPr>
        <p:spPr>
          <a:xfrm>
            <a:off x="995781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tore dot 23"/>
          <p:cNvSpPr/>
          <p:nvPr/>
        </p:nvSpPr>
        <p:spPr>
          <a:xfrm>
            <a:off x="1013155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tore dot 24"/>
          <p:cNvSpPr/>
          <p:nvPr/>
        </p:nvSpPr>
        <p:spPr>
          <a:xfrm>
            <a:off x="1030528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tore dot 25"/>
          <p:cNvSpPr/>
          <p:nvPr/>
        </p:nvSpPr>
        <p:spPr>
          <a:xfrm>
            <a:off x="1047902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tore dot 26"/>
          <p:cNvSpPr/>
          <p:nvPr/>
        </p:nvSpPr>
        <p:spPr>
          <a:xfrm>
            <a:off x="10652760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tore dot 27"/>
          <p:cNvSpPr/>
          <p:nvPr/>
        </p:nvSpPr>
        <p:spPr>
          <a:xfrm>
            <a:off x="10826496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tore dot 28"/>
          <p:cNvSpPr/>
          <p:nvPr/>
        </p:nvSpPr>
        <p:spPr>
          <a:xfrm>
            <a:off x="11000232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tore dot 29"/>
          <p:cNvSpPr/>
          <p:nvPr/>
        </p:nvSpPr>
        <p:spPr>
          <a:xfrm>
            <a:off x="11173968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tore dot 30"/>
          <p:cNvSpPr/>
          <p:nvPr/>
        </p:nvSpPr>
        <p:spPr>
          <a:xfrm>
            <a:off x="11347704" y="109728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tore dot 31"/>
          <p:cNvSpPr/>
          <p:nvPr/>
        </p:nvSpPr>
        <p:spPr>
          <a:xfrm>
            <a:off x="630936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tore dot 32"/>
          <p:cNvSpPr/>
          <p:nvPr/>
        </p:nvSpPr>
        <p:spPr>
          <a:xfrm>
            <a:off x="648309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tore dot 33"/>
          <p:cNvSpPr/>
          <p:nvPr/>
        </p:nvSpPr>
        <p:spPr>
          <a:xfrm>
            <a:off x="665683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tore dot 34"/>
          <p:cNvSpPr/>
          <p:nvPr/>
        </p:nvSpPr>
        <p:spPr>
          <a:xfrm>
            <a:off x="683056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tore dot 35"/>
          <p:cNvSpPr/>
          <p:nvPr/>
        </p:nvSpPr>
        <p:spPr>
          <a:xfrm>
            <a:off x="700430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tore dot 36"/>
          <p:cNvSpPr/>
          <p:nvPr/>
        </p:nvSpPr>
        <p:spPr>
          <a:xfrm>
            <a:off x="717804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tore dot 37"/>
          <p:cNvSpPr/>
          <p:nvPr/>
        </p:nvSpPr>
        <p:spPr>
          <a:xfrm>
            <a:off x="735177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tore dot 38"/>
          <p:cNvSpPr/>
          <p:nvPr/>
        </p:nvSpPr>
        <p:spPr>
          <a:xfrm>
            <a:off x="752551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tore dot 39"/>
          <p:cNvSpPr/>
          <p:nvPr/>
        </p:nvSpPr>
        <p:spPr>
          <a:xfrm>
            <a:off x="769924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tore dot 40"/>
          <p:cNvSpPr/>
          <p:nvPr/>
        </p:nvSpPr>
        <p:spPr>
          <a:xfrm>
            <a:off x="787298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tore dot 41"/>
          <p:cNvSpPr/>
          <p:nvPr/>
        </p:nvSpPr>
        <p:spPr>
          <a:xfrm>
            <a:off x="804672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tore dot 42"/>
          <p:cNvSpPr/>
          <p:nvPr/>
        </p:nvSpPr>
        <p:spPr>
          <a:xfrm>
            <a:off x="822045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tore dot 43"/>
          <p:cNvSpPr/>
          <p:nvPr/>
        </p:nvSpPr>
        <p:spPr>
          <a:xfrm>
            <a:off x="839419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tore dot 44"/>
          <p:cNvSpPr/>
          <p:nvPr/>
        </p:nvSpPr>
        <p:spPr>
          <a:xfrm>
            <a:off x="856792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tore dot 45"/>
          <p:cNvSpPr/>
          <p:nvPr/>
        </p:nvSpPr>
        <p:spPr>
          <a:xfrm>
            <a:off x="874166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tore dot 46"/>
          <p:cNvSpPr/>
          <p:nvPr/>
        </p:nvSpPr>
        <p:spPr>
          <a:xfrm>
            <a:off x="891540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tore dot 47"/>
          <p:cNvSpPr/>
          <p:nvPr/>
        </p:nvSpPr>
        <p:spPr>
          <a:xfrm>
            <a:off x="908913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tore dot 48"/>
          <p:cNvSpPr/>
          <p:nvPr/>
        </p:nvSpPr>
        <p:spPr>
          <a:xfrm>
            <a:off x="926287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tore dot 49"/>
          <p:cNvSpPr/>
          <p:nvPr/>
        </p:nvSpPr>
        <p:spPr>
          <a:xfrm>
            <a:off x="943660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tore dot 50"/>
          <p:cNvSpPr/>
          <p:nvPr/>
        </p:nvSpPr>
        <p:spPr>
          <a:xfrm>
            <a:off x="961034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tore dot 51"/>
          <p:cNvSpPr/>
          <p:nvPr/>
        </p:nvSpPr>
        <p:spPr>
          <a:xfrm>
            <a:off x="978408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tore dot 52"/>
          <p:cNvSpPr/>
          <p:nvPr/>
        </p:nvSpPr>
        <p:spPr>
          <a:xfrm>
            <a:off x="995781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tore dot 53"/>
          <p:cNvSpPr/>
          <p:nvPr/>
        </p:nvSpPr>
        <p:spPr>
          <a:xfrm>
            <a:off x="1013155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tore dot 54"/>
          <p:cNvSpPr/>
          <p:nvPr/>
        </p:nvSpPr>
        <p:spPr>
          <a:xfrm>
            <a:off x="1030528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tore dot 55"/>
          <p:cNvSpPr/>
          <p:nvPr/>
        </p:nvSpPr>
        <p:spPr>
          <a:xfrm>
            <a:off x="1047902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tore dot 56"/>
          <p:cNvSpPr/>
          <p:nvPr/>
        </p:nvSpPr>
        <p:spPr>
          <a:xfrm>
            <a:off x="10652760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tore dot 57"/>
          <p:cNvSpPr/>
          <p:nvPr/>
        </p:nvSpPr>
        <p:spPr>
          <a:xfrm>
            <a:off x="10826496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tore dot 58"/>
          <p:cNvSpPr/>
          <p:nvPr/>
        </p:nvSpPr>
        <p:spPr>
          <a:xfrm>
            <a:off x="11000232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tore dot 59"/>
          <p:cNvSpPr/>
          <p:nvPr/>
        </p:nvSpPr>
        <p:spPr>
          <a:xfrm>
            <a:off x="11173968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tore dot 60"/>
          <p:cNvSpPr/>
          <p:nvPr/>
        </p:nvSpPr>
        <p:spPr>
          <a:xfrm>
            <a:off x="11347704" y="12710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tore dot 61"/>
          <p:cNvSpPr/>
          <p:nvPr/>
        </p:nvSpPr>
        <p:spPr>
          <a:xfrm>
            <a:off x="630936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tore dot 62"/>
          <p:cNvSpPr/>
          <p:nvPr/>
        </p:nvSpPr>
        <p:spPr>
          <a:xfrm>
            <a:off x="648309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tore dot 63"/>
          <p:cNvSpPr/>
          <p:nvPr/>
        </p:nvSpPr>
        <p:spPr>
          <a:xfrm>
            <a:off x="665683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tore dot 64"/>
          <p:cNvSpPr/>
          <p:nvPr/>
        </p:nvSpPr>
        <p:spPr>
          <a:xfrm>
            <a:off x="683056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tore dot 65"/>
          <p:cNvSpPr/>
          <p:nvPr/>
        </p:nvSpPr>
        <p:spPr>
          <a:xfrm>
            <a:off x="700430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tore dot 66"/>
          <p:cNvSpPr/>
          <p:nvPr/>
        </p:nvSpPr>
        <p:spPr>
          <a:xfrm>
            <a:off x="717804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tore dot 67"/>
          <p:cNvSpPr/>
          <p:nvPr/>
        </p:nvSpPr>
        <p:spPr>
          <a:xfrm>
            <a:off x="735177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tore dot 68"/>
          <p:cNvSpPr/>
          <p:nvPr/>
        </p:nvSpPr>
        <p:spPr>
          <a:xfrm>
            <a:off x="752551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tore dot 69"/>
          <p:cNvSpPr/>
          <p:nvPr/>
        </p:nvSpPr>
        <p:spPr>
          <a:xfrm>
            <a:off x="769924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tore dot 70"/>
          <p:cNvSpPr/>
          <p:nvPr/>
        </p:nvSpPr>
        <p:spPr>
          <a:xfrm>
            <a:off x="787298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tore dot 71"/>
          <p:cNvSpPr/>
          <p:nvPr/>
        </p:nvSpPr>
        <p:spPr>
          <a:xfrm>
            <a:off x="804672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tore dot 72"/>
          <p:cNvSpPr/>
          <p:nvPr/>
        </p:nvSpPr>
        <p:spPr>
          <a:xfrm>
            <a:off x="822045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tore dot 73"/>
          <p:cNvSpPr/>
          <p:nvPr/>
        </p:nvSpPr>
        <p:spPr>
          <a:xfrm>
            <a:off x="839419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tore dot 74"/>
          <p:cNvSpPr/>
          <p:nvPr/>
        </p:nvSpPr>
        <p:spPr>
          <a:xfrm>
            <a:off x="856792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tore dot 75"/>
          <p:cNvSpPr/>
          <p:nvPr/>
        </p:nvSpPr>
        <p:spPr>
          <a:xfrm>
            <a:off x="874166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tore dot 76"/>
          <p:cNvSpPr/>
          <p:nvPr/>
        </p:nvSpPr>
        <p:spPr>
          <a:xfrm>
            <a:off x="891540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tore dot 77"/>
          <p:cNvSpPr/>
          <p:nvPr/>
        </p:nvSpPr>
        <p:spPr>
          <a:xfrm>
            <a:off x="908913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tore dot 78"/>
          <p:cNvSpPr/>
          <p:nvPr/>
        </p:nvSpPr>
        <p:spPr>
          <a:xfrm>
            <a:off x="926287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tore dot 79"/>
          <p:cNvSpPr/>
          <p:nvPr/>
        </p:nvSpPr>
        <p:spPr>
          <a:xfrm>
            <a:off x="943660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tore dot 80"/>
          <p:cNvSpPr/>
          <p:nvPr/>
        </p:nvSpPr>
        <p:spPr>
          <a:xfrm>
            <a:off x="961034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tore dot 81"/>
          <p:cNvSpPr/>
          <p:nvPr/>
        </p:nvSpPr>
        <p:spPr>
          <a:xfrm>
            <a:off x="978408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tore dot 82"/>
          <p:cNvSpPr/>
          <p:nvPr/>
        </p:nvSpPr>
        <p:spPr>
          <a:xfrm>
            <a:off x="995781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tore dot 83"/>
          <p:cNvSpPr/>
          <p:nvPr/>
        </p:nvSpPr>
        <p:spPr>
          <a:xfrm>
            <a:off x="1013155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tore dot 84"/>
          <p:cNvSpPr/>
          <p:nvPr/>
        </p:nvSpPr>
        <p:spPr>
          <a:xfrm>
            <a:off x="1030528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tore dot 85"/>
          <p:cNvSpPr/>
          <p:nvPr/>
        </p:nvSpPr>
        <p:spPr>
          <a:xfrm>
            <a:off x="1047902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tore dot 86"/>
          <p:cNvSpPr/>
          <p:nvPr/>
        </p:nvSpPr>
        <p:spPr>
          <a:xfrm>
            <a:off x="10652760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tore dot 87"/>
          <p:cNvSpPr/>
          <p:nvPr/>
        </p:nvSpPr>
        <p:spPr>
          <a:xfrm>
            <a:off x="10826496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tore dot 88"/>
          <p:cNvSpPr/>
          <p:nvPr/>
        </p:nvSpPr>
        <p:spPr>
          <a:xfrm>
            <a:off x="11000232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tore dot 89"/>
          <p:cNvSpPr/>
          <p:nvPr/>
        </p:nvSpPr>
        <p:spPr>
          <a:xfrm>
            <a:off x="11173968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tore dot 90"/>
          <p:cNvSpPr/>
          <p:nvPr/>
        </p:nvSpPr>
        <p:spPr>
          <a:xfrm>
            <a:off x="11347704" y="144475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tore dot 91"/>
          <p:cNvSpPr/>
          <p:nvPr/>
        </p:nvSpPr>
        <p:spPr>
          <a:xfrm>
            <a:off x="630936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tore dot 92"/>
          <p:cNvSpPr/>
          <p:nvPr/>
        </p:nvSpPr>
        <p:spPr>
          <a:xfrm>
            <a:off x="648309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tore dot 93"/>
          <p:cNvSpPr/>
          <p:nvPr/>
        </p:nvSpPr>
        <p:spPr>
          <a:xfrm>
            <a:off x="665683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tore dot 94"/>
          <p:cNvSpPr/>
          <p:nvPr/>
        </p:nvSpPr>
        <p:spPr>
          <a:xfrm>
            <a:off x="683056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tore dot 95"/>
          <p:cNvSpPr/>
          <p:nvPr/>
        </p:nvSpPr>
        <p:spPr>
          <a:xfrm>
            <a:off x="700430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tore dot 96"/>
          <p:cNvSpPr/>
          <p:nvPr/>
        </p:nvSpPr>
        <p:spPr>
          <a:xfrm>
            <a:off x="717804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tore dot 97"/>
          <p:cNvSpPr/>
          <p:nvPr/>
        </p:nvSpPr>
        <p:spPr>
          <a:xfrm>
            <a:off x="735177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tore dot 98"/>
          <p:cNvSpPr/>
          <p:nvPr/>
        </p:nvSpPr>
        <p:spPr>
          <a:xfrm>
            <a:off x="752551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tore dot 99"/>
          <p:cNvSpPr/>
          <p:nvPr/>
        </p:nvSpPr>
        <p:spPr>
          <a:xfrm>
            <a:off x="769924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tore dot 100"/>
          <p:cNvSpPr/>
          <p:nvPr/>
        </p:nvSpPr>
        <p:spPr>
          <a:xfrm>
            <a:off x="787298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tore dot 101"/>
          <p:cNvSpPr/>
          <p:nvPr/>
        </p:nvSpPr>
        <p:spPr>
          <a:xfrm>
            <a:off x="804672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tore dot 102"/>
          <p:cNvSpPr/>
          <p:nvPr/>
        </p:nvSpPr>
        <p:spPr>
          <a:xfrm>
            <a:off x="822045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tore dot 103"/>
          <p:cNvSpPr/>
          <p:nvPr/>
        </p:nvSpPr>
        <p:spPr>
          <a:xfrm>
            <a:off x="839419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tore dot 104"/>
          <p:cNvSpPr/>
          <p:nvPr/>
        </p:nvSpPr>
        <p:spPr>
          <a:xfrm>
            <a:off x="856792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tore dot 105"/>
          <p:cNvSpPr/>
          <p:nvPr/>
        </p:nvSpPr>
        <p:spPr>
          <a:xfrm>
            <a:off x="874166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tore dot 106"/>
          <p:cNvSpPr/>
          <p:nvPr/>
        </p:nvSpPr>
        <p:spPr>
          <a:xfrm>
            <a:off x="891540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tore dot 107"/>
          <p:cNvSpPr/>
          <p:nvPr/>
        </p:nvSpPr>
        <p:spPr>
          <a:xfrm>
            <a:off x="908913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tore dot 108"/>
          <p:cNvSpPr/>
          <p:nvPr/>
        </p:nvSpPr>
        <p:spPr>
          <a:xfrm>
            <a:off x="926287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tore dot 109"/>
          <p:cNvSpPr/>
          <p:nvPr/>
        </p:nvSpPr>
        <p:spPr>
          <a:xfrm>
            <a:off x="943660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tore dot 110"/>
          <p:cNvSpPr/>
          <p:nvPr/>
        </p:nvSpPr>
        <p:spPr>
          <a:xfrm>
            <a:off x="961034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tore dot 111"/>
          <p:cNvSpPr/>
          <p:nvPr/>
        </p:nvSpPr>
        <p:spPr>
          <a:xfrm>
            <a:off x="978408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tore dot 112"/>
          <p:cNvSpPr/>
          <p:nvPr/>
        </p:nvSpPr>
        <p:spPr>
          <a:xfrm>
            <a:off x="995781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tore dot 113"/>
          <p:cNvSpPr/>
          <p:nvPr/>
        </p:nvSpPr>
        <p:spPr>
          <a:xfrm>
            <a:off x="1013155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tore dot 114"/>
          <p:cNvSpPr/>
          <p:nvPr/>
        </p:nvSpPr>
        <p:spPr>
          <a:xfrm>
            <a:off x="1030528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tore dot 115"/>
          <p:cNvSpPr/>
          <p:nvPr/>
        </p:nvSpPr>
        <p:spPr>
          <a:xfrm>
            <a:off x="1047902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tore dot 116"/>
          <p:cNvSpPr/>
          <p:nvPr/>
        </p:nvSpPr>
        <p:spPr>
          <a:xfrm>
            <a:off x="10652760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tore dot 117"/>
          <p:cNvSpPr/>
          <p:nvPr/>
        </p:nvSpPr>
        <p:spPr>
          <a:xfrm>
            <a:off x="10826496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tore dot 118"/>
          <p:cNvSpPr/>
          <p:nvPr/>
        </p:nvSpPr>
        <p:spPr>
          <a:xfrm>
            <a:off x="11000232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tore dot 119"/>
          <p:cNvSpPr/>
          <p:nvPr/>
        </p:nvSpPr>
        <p:spPr>
          <a:xfrm>
            <a:off x="11173968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tore dot 120"/>
          <p:cNvSpPr/>
          <p:nvPr/>
        </p:nvSpPr>
        <p:spPr>
          <a:xfrm>
            <a:off x="11347704" y="161848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tore dot 121"/>
          <p:cNvSpPr/>
          <p:nvPr/>
        </p:nvSpPr>
        <p:spPr>
          <a:xfrm>
            <a:off x="630936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tore dot 122"/>
          <p:cNvSpPr/>
          <p:nvPr/>
        </p:nvSpPr>
        <p:spPr>
          <a:xfrm>
            <a:off x="648309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tore dot 123"/>
          <p:cNvSpPr/>
          <p:nvPr/>
        </p:nvSpPr>
        <p:spPr>
          <a:xfrm>
            <a:off x="665683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tore dot 124"/>
          <p:cNvSpPr/>
          <p:nvPr/>
        </p:nvSpPr>
        <p:spPr>
          <a:xfrm>
            <a:off x="683056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tore dot 125"/>
          <p:cNvSpPr/>
          <p:nvPr/>
        </p:nvSpPr>
        <p:spPr>
          <a:xfrm>
            <a:off x="700430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tore dot 126"/>
          <p:cNvSpPr/>
          <p:nvPr/>
        </p:nvSpPr>
        <p:spPr>
          <a:xfrm>
            <a:off x="717804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tore dot 127"/>
          <p:cNvSpPr/>
          <p:nvPr/>
        </p:nvSpPr>
        <p:spPr>
          <a:xfrm>
            <a:off x="735177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tore dot 128"/>
          <p:cNvSpPr/>
          <p:nvPr/>
        </p:nvSpPr>
        <p:spPr>
          <a:xfrm>
            <a:off x="752551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tore dot 129"/>
          <p:cNvSpPr/>
          <p:nvPr/>
        </p:nvSpPr>
        <p:spPr>
          <a:xfrm>
            <a:off x="769924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tore dot 130"/>
          <p:cNvSpPr/>
          <p:nvPr/>
        </p:nvSpPr>
        <p:spPr>
          <a:xfrm>
            <a:off x="787298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tore dot 131"/>
          <p:cNvSpPr/>
          <p:nvPr/>
        </p:nvSpPr>
        <p:spPr>
          <a:xfrm>
            <a:off x="804672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tore dot 132"/>
          <p:cNvSpPr/>
          <p:nvPr/>
        </p:nvSpPr>
        <p:spPr>
          <a:xfrm>
            <a:off x="822045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tore dot 133"/>
          <p:cNvSpPr/>
          <p:nvPr/>
        </p:nvSpPr>
        <p:spPr>
          <a:xfrm>
            <a:off x="839419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tore dot 134"/>
          <p:cNvSpPr/>
          <p:nvPr/>
        </p:nvSpPr>
        <p:spPr>
          <a:xfrm>
            <a:off x="856792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tore dot 135"/>
          <p:cNvSpPr/>
          <p:nvPr/>
        </p:nvSpPr>
        <p:spPr>
          <a:xfrm>
            <a:off x="874166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tore dot 136"/>
          <p:cNvSpPr/>
          <p:nvPr/>
        </p:nvSpPr>
        <p:spPr>
          <a:xfrm>
            <a:off x="891540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tore dot 137"/>
          <p:cNvSpPr/>
          <p:nvPr/>
        </p:nvSpPr>
        <p:spPr>
          <a:xfrm>
            <a:off x="908913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tore dot 138"/>
          <p:cNvSpPr/>
          <p:nvPr/>
        </p:nvSpPr>
        <p:spPr>
          <a:xfrm>
            <a:off x="926287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tore dot 139"/>
          <p:cNvSpPr/>
          <p:nvPr/>
        </p:nvSpPr>
        <p:spPr>
          <a:xfrm>
            <a:off x="943660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tore dot 140"/>
          <p:cNvSpPr/>
          <p:nvPr/>
        </p:nvSpPr>
        <p:spPr>
          <a:xfrm>
            <a:off x="961034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tore dot 141"/>
          <p:cNvSpPr/>
          <p:nvPr/>
        </p:nvSpPr>
        <p:spPr>
          <a:xfrm>
            <a:off x="978408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tore dot 142"/>
          <p:cNvSpPr/>
          <p:nvPr/>
        </p:nvSpPr>
        <p:spPr>
          <a:xfrm>
            <a:off x="995781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tore dot 143"/>
          <p:cNvSpPr/>
          <p:nvPr/>
        </p:nvSpPr>
        <p:spPr>
          <a:xfrm>
            <a:off x="1013155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tore dot 144"/>
          <p:cNvSpPr/>
          <p:nvPr/>
        </p:nvSpPr>
        <p:spPr>
          <a:xfrm>
            <a:off x="1030528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tore dot 145"/>
          <p:cNvSpPr/>
          <p:nvPr/>
        </p:nvSpPr>
        <p:spPr>
          <a:xfrm>
            <a:off x="1047902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tore dot 146"/>
          <p:cNvSpPr/>
          <p:nvPr/>
        </p:nvSpPr>
        <p:spPr>
          <a:xfrm>
            <a:off x="10652760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tore dot 147"/>
          <p:cNvSpPr/>
          <p:nvPr/>
        </p:nvSpPr>
        <p:spPr>
          <a:xfrm>
            <a:off x="10826496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tore dot 148"/>
          <p:cNvSpPr/>
          <p:nvPr/>
        </p:nvSpPr>
        <p:spPr>
          <a:xfrm>
            <a:off x="11000232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tore dot 149"/>
          <p:cNvSpPr/>
          <p:nvPr/>
        </p:nvSpPr>
        <p:spPr>
          <a:xfrm>
            <a:off x="11173968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tore dot 150"/>
          <p:cNvSpPr/>
          <p:nvPr/>
        </p:nvSpPr>
        <p:spPr>
          <a:xfrm>
            <a:off x="11347704" y="179222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tore dot 151"/>
          <p:cNvSpPr/>
          <p:nvPr/>
        </p:nvSpPr>
        <p:spPr>
          <a:xfrm>
            <a:off x="630936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tore dot 152"/>
          <p:cNvSpPr/>
          <p:nvPr/>
        </p:nvSpPr>
        <p:spPr>
          <a:xfrm>
            <a:off x="648309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tore dot 153"/>
          <p:cNvSpPr/>
          <p:nvPr/>
        </p:nvSpPr>
        <p:spPr>
          <a:xfrm>
            <a:off x="665683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tore dot 154"/>
          <p:cNvSpPr/>
          <p:nvPr/>
        </p:nvSpPr>
        <p:spPr>
          <a:xfrm>
            <a:off x="683056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tore dot 155"/>
          <p:cNvSpPr/>
          <p:nvPr/>
        </p:nvSpPr>
        <p:spPr>
          <a:xfrm>
            <a:off x="700430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tore dot 156"/>
          <p:cNvSpPr/>
          <p:nvPr/>
        </p:nvSpPr>
        <p:spPr>
          <a:xfrm>
            <a:off x="717804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tore dot 157"/>
          <p:cNvSpPr/>
          <p:nvPr/>
        </p:nvSpPr>
        <p:spPr>
          <a:xfrm>
            <a:off x="735177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tore dot 158"/>
          <p:cNvSpPr/>
          <p:nvPr/>
        </p:nvSpPr>
        <p:spPr>
          <a:xfrm>
            <a:off x="752551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tore dot 159"/>
          <p:cNvSpPr/>
          <p:nvPr/>
        </p:nvSpPr>
        <p:spPr>
          <a:xfrm>
            <a:off x="769924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tore dot 160"/>
          <p:cNvSpPr/>
          <p:nvPr/>
        </p:nvSpPr>
        <p:spPr>
          <a:xfrm>
            <a:off x="787298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tore dot 161"/>
          <p:cNvSpPr/>
          <p:nvPr/>
        </p:nvSpPr>
        <p:spPr>
          <a:xfrm>
            <a:off x="804672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tore dot 162"/>
          <p:cNvSpPr/>
          <p:nvPr/>
        </p:nvSpPr>
        <p:spPr>
          <a:xfrm>
            <a:off x="822045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tore dot 163"/>
          <p:cNvSpPr/>
          <p:nvPr/>
        </p:nvSpPr>
        <p:spPr>
          <a:xfrm>
            <a:off x="839419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tore dot 164"/>
          <p:cNvSpPr/>
          <p:nvPr/>
        </p:nvSpPr>
        <p:spPr>
          <a:xfrm>
            <a:off x="856792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tore dot 165"/>
          <p:cNvSpPr/>
          <p:nvPr/>
        </p:nvSpPr>
        <p:spPr>
          <a:xfrm>
            <a:off x="874166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tore dot 166"/>
          <p:cNvSpPr/>
          <p:nvPr/>
        </p:nvSpPr>
        <p:spPr>
          <a:xfrm>
            <a:off x="891540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tore dot 167"/>
          <p:cNvSpPr/>
          <p:nvPr/>
        </p:nvSpPr>
        <p:spPr>
          <a:xfrm>
            <a:off x="908913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tore dot 168"/>
          <p:cNvSpPr/>
          <p:nvPr/>
        </p:nvSpPr>
        <p:spPr>
          <a:xfrm>
            <a:off x="926287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tore dot 169"/>
          <p:cNvSpPr/>
          <p:nvPr/>
        </p:nvSpPr>
        <p:spPr>
          <a:xfrm>
            <a:off x="943660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tore dot 170"/>
          <p:cNvSpPr/>
          <p:nvPr/>
        </p:nvSpPr>
        <p:spPr>
          <a:xfrm>
            <a:off x="961034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tore dot 171"/>
          <p:cNvSpPr/>
          <p:nvPr/>
        </p:nvSpPr>
        <p:spPr>
          <a:xfrm>
            <a:off x="978408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tore dot 172"/>
          <p:cNvSpPr/>
          <p:nvPr/>
        </p:nvSpPr>
        <p:spPr>
          <a:xfrm>
            <a:off x="995781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tore dot 173"/>
          <p:cNvSpPr/>
          <p:nvPr/>
        </p:nvSpPr>
        <p:spPr>
          <a:xfrm>
            <a:off x="1013155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tore dot 174"/>
          <p:cNvSpPr/>
          <p:nvPr/>
        </p:nvSpPr>
        <p:spPr>
          <a:xfrm>
            <a:off x="1030528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tore dot 175"/>
          <p:cNvSpPr/>
          <p:nvPr/>
        </p:nvSpPr>
        <p:spPr>
          <a:xfrm>
            <a:off x="1047902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tore dot 176"/>
          <p:cNvSpPr/>
          <p:nvPr/>
        </p:nvSpPr>
        <p:spPr>
          <a:xfrm>
            <a:off x="10652760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tore dot 177"/>
          <p:cNvSpPr/>
          <p:nvPr/>
        </p:nvSpPr>
        <p:spPr>
          <a:xfrm>
            <a:off x="10826496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tore dot 178"/>
          <p:cNvSpPr/>
          <p:nvPr/>
        </p:nvSpPr>
        <p:spPr>
          <a:xfrm>
            <a:off x="11000232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tore dot 179"/>
          <p:cNvSpPr/>
          <p:nvPr/>
        </p:nvSpPr>
        <p:spPr>
          <a:xfrm>
            <a:off x="11173968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tore dot 180"/>
          <p:cNvSpPr/>
          <p:nvPr/>
        </p:nvSpPr>
        <p:spPr>
          <a:xfrm>
            <a:off x="11347704" y="196596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tore dot 181"/>
          <p:cNvSpPr/>
          <p:nvPr/>
        </p:nvSpPr>
        <p:spPr>
          <a:xfrm>
            <a:off x="630936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tore dot 182"/>
          <p:cNvSpPr/>
          <p:nvPr/>
        </p:nvSpPr>
        <p:spPr>
          <a:xfrm>
            <a:off x="648309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tore dot 183"/>
          <p:cNvSpPr/>
          <p:nvPr/>
        </p:nvSpPr>
        <p:spPr>
          <a:xfrm>
            <a:off x="665683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tore dot 184"/>
          <p:cNvSpPr/>
          <p:nvPr/>
        </p:nvSpPr>
        <p:spPr>
          <a:xfrm>
            <a:off x="683056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tore dot 185"/>
          <p:cNvSpPr/>
          <p:nvPr/>
        </p:nvSpPr>
        <p:spPr>
          <a:xfrm>
            <a:off x="700430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tore dot 186"/>
          <p:cNvSpPr/>
          <p:nvPr/>
        </p:nvSpPr>
        <p:spPr>
          <a:xfrm>
            <a:off x="717804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tore dot 187"/>
          <p:cNvSpPr/>
          <p:nvPr/>
        </p:nvSpPr>
        <p:spPr>
          <a:xfrm>
            <a:off x="735177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tore dot 188"/>
          <p:cNvSpPr/>
          <p:nvPr/>
        </p:nvSpPr>
        <p:spPr>
          <a:xfrm>
            <a:off x="752551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tore dot 189"/>
          <p:cNvSpPr/>
          <p:nvPr/>
        </p:nvSpPr>
        <p:spPr>
          <a:xfrm>
            <a:off x="769924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tore dot 190"/>
          <p:cNvSpPr/>
          <p:nvPr/>
        </p:nvSpPr>
        <p:spPr>
          <a:xfrm>
            <a:off x="787298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tore dot 191"/>
          <p:cNvSpPr/>
          <p:nvPr/>
        </p:nvSpPr>
        <p:spPr>
          <a:xfrm>
            <a:off x="804672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tore dot 192"/>
          <p:cNvSpPr/>
          <p:nvPr/>
        </p:nvSpPr>
        <p:spPr>
          <a:xfrm>
            <a:off x="822045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tore dot 193"/>
          <p:cNvSpPr/>
          <p:nvPr/>
        </p:nvSpPr>
        <p:spPr>
          <a:xfrm>
            <a:off x="839419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tore dot 194"/>
          <p:cNvSpPr/>
          <p:nvPr/>
        </p:nvSpPr>
        <p:spPr>
          <a:xfrm>
            <a:off x="856792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tore dot 195"/>
          <p:cNvSpPr/>
          <p:nvPr/>
        </p:nvSpPr>
        <p:spPr>
          <a:xfrm>
            <a:off x="874166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tore dot 196"/>
          <p:cNvSpPr/>
          <p:nvPr/>
        </p:nvSpPr>
        <p:spPr>
          <a:xfrm>
            <a:off x="891540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tore dot 197"/>
          <p:cNvSpPr/>
          <p:nvPr/>
        </p:nvSpPr>
        <p:spPr>
          <a:xfrm>
            <a:off x="908913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tore dot 198"/>
          <p:cNvSpPr/>
          <p:nvPr/>
        </p:nvSpPr>
        <p:spPr>
          <a:xfrm>
            <a:off x="926287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tore dot 199"/>
          <p:cNvSpPr/>
          <p:nvPr/>
        </p:nvSpPr>
        <p:spPr>
          <a:xfrm>
            <a:off x="943660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tore dot 200"/>
          <p:cNvSpPr/>
          <p:nvPr/>
        </p:nvSpPr>
        <p:spPr>
          <a:xfrm>
            <a:off x="961034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tore dot 201"/>
          <p:cNvSpPr/>
          <p:nvPr/>
        </p:nvSpPr>
        <p:spPr>
          <a:xfrm>
            <a:off x="978408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tore dot 202"/>
          <p:cNvSpPr/>
          <p:nvPr/>
        </p:nvSpPr>
        <p:spPr>
          <a:xfrm>
            <a:off x="995781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tore dot 203"/>
          <p:cNvSpPr/>
          <p:nvPr/>
        </p:nvSpPr>
        <p:spPr>
          <a:xfrm>
            <a:off x="1013155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tore dot 204"/>
          <p:cNvSpPr/>
          <p:nvPr/>
        </p:nvSpPr>
        <p:spPr>
          <a:xfrm>
            <a:off x="1030528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tore dot 205"/>
          <p:cNvSpPr/>
          <p:nvPr/>
        </p:nvSpPr>
        <p:spPr>
          <a:xfrm>
            <a:off x="1047902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tore dot 206"/>
          <p:cNvSpPr/>
          <p:nvPr/>
        </p:nvSpPr>
        <p:spPr>
          <a:xfrm>
            <a:off x="10652760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tore dot 207"/>
          <p:cNvSpPr/>
          <p:nvPr/>
        </p:nvSpPr>
        <p:spPr>
          <a:xfrm>
            <a:off x="10826496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tore dot 208"/>
          <p:cNvSpPr/>
          <p:nvPr/>
        </p:nvSpPr>
        <p:spPr>
          <a:xfrm>
            <a:off x="11000232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tore dot 209"/>
          <p:cNvSpPr/>
          <p:nvPr/>
        </p:nvSpPr>
        <p:spPr>
          <a:xfrm>
            <a:off x="11173968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tore dot 210"/>
          <p:cNvSpPr/>
          <p:nvPr/>
        </p:nvSpPr>
        <p:spPr>
          <a:xfrm>
            <a:off x="11347704" y="21396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tore dot 211"/>
          <p:cNvSpPr/>
          <p:nvPr/>
        </p:nvSpPr>
        <p:spPr>
          <a:xfrm>
            <a:off x="630936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tore dot 212"/>
          <p:cNvSpPr/>
          <p:nvPr/>
        </p:nvSpPr>
        <p:spPr>
          <a:xfrm>
            <a:off x="648309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tore dot 213"/>
          <p:cNvSpPr/>
          <p:nvPr/>
        </p:nvSpPr>
        <p:spPr>
          <a:xfrm>
            <a:off x="665683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tore dot 214"/>
          <p:cNvSpPr/>
          <p:nvPr/>
        </p:nvSpPr>
        <p:spPr>
          <a:xfrm>
            <a:off x="683056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tore dot 215"/>
          <p:cNvSpPr/>
          <p:nvPr/>
        </p:nvSpPr>
        <p:spPr>
          <a:xfrm>
            <a:off x="700430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tore dot 216"/>
          <p:cNvSpPr/>
          <p:nvPr/>
        </p:nvSpPr>
        <p:spPr>
          <a:xfrm>
            <a:off x="717804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tore dot 217"/>
          <p:cNvSpPr/>
          <p:nvPr/>
        </p:nvSpPr>
        <p:spPr>
          <a:xfrm>
            <a:off x="735177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tore dot 218"/>
          <p:cNvSpPr/>
          <p:nvPr/>
        </p:nvSpPr>
        <p:spPr>
          <a:xfrm>
            <a:off x="752551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tore dot 219"/>
          <p:cNvSpPr/>
          <p:nvPr/>
        </p:nvSpPr>
        <p:spPr>
          <a:xfrm>
            <a:off x="769924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tore dot 220"/>
          <p:cNvSpPr/>
          <p:nvPr/>
        </p:nvSpPr>
        <p:spPr>
          <a:xfrm>
            <a:off x="787298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tore dot 221"/>
          <p:cNvSpPr/>
          <p:nvPr/>
        </p:nvSpPr>
        <p:spPr>
          <a:xfrm>
            <a:off x="804672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tore dot 222"/>
          <p:cNvSpPr/>
          <p:nvPr/>
        </p:nvSpPr>
        <p:spPr>
          <a:xfrm>
            <a:off x="822045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tore dot 223"/>
          <p:cNvSpPr/>
          <p:nvPr/>
        </p:nvSpPr>
        <p:spPr>
          <a:xfrm>
            <a:off x="839419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tore dot 224"/>
          <p:cNvSpPr/>
          <p:nvPr/>
        </p:nvSpPr>
        <p:spPr>
          <a:xfrm>
            <a:off x="856792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tore dot 225"/>
          <p:cNvSpPr/>
          <p:nvPr/>
        </p:nvSpPr>
        <p:spPr>
          <a:xfrm>
            <a:off x="874166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tore dot 226"/>
          <p:cNvSpPr/>
          <p:nvPr/>
        </p:nvSpPr>
        <p:spPr>
          <a:xfrm>
            <a:off x="891540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tore dot 227"/>
          <p:cNvSpPr/>
          <p:nvPr/>
        </p:nvSpPr>
        <p:spPr>
          <a:xfrm>
            <a:off x="908913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tore dot 228"/>
          <p:cNvSpPr/>
          <p:nvPr/>
        </p:nvSpPr>
        <p:spPr>
          <a:xfrm>
            <a:off x="926287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tore dot 229"/>
          <p:cNvSpPr/>
          <p:nvPr/>
        </p:nvSpPr>
        <p:spPr>
          <a:xfrm>
            <a:off x="943660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tore dot 230"/>
          <p:cNvSpPr/>
          <p:nvPr/>
        </p:nvSpPr>
        <p:spPr>
          <a:xfrm>
            <a:off x="961034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tore dot 231"/>
          <p:cNvSpPr/>
          <p:nvPr/>
        </p:nvSpPr>
        <p:spPr>
          <a:xfrm>
            <a:off x="978408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tore dot 232"/>
          <p:cNvSpPr/>
          <p:nvPr/>
        </p:nvSpPr>
        <p:spPr>
          <a:xfrm>
            <a:off x="995781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tore dot 233"/>
          <p:cNvSpPr/>
          <p:nvPr/>
        </p:nvSpPr>
        <p:spPr>
          <a:xfrm>
            <a:off x="1013155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tore dot 234"/>
          <p:cNvSpPr/>
          <p:nvPr/>
        </p:nvSpPr>
        <p:spPr>
          <a:xfrm>
            <a:off x="1030528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tore dot 235"/>
          <p:cNvSpPr/>
          <p:nvPr/>
        </p:nvSpPr>
        <p:spPr>
          <a:xfrm>
            <a:off x="1047902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tore dot 236"/>
          <p:cNvSpPr/>
          <p:nvPr/>
        </p:nvSpPr>
        <p:spPr>
          <a:xfrm>
            <a:off x="10652760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tore dot 237"/>
          <p:cNvSpPr/>
          <p:nvPr/>
        </p:nvSpPr>
        <p:spPr>
          <a:xfrm>
            <a:off x="10826496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tore dot 238"/>
          <p:cNvSpPr/>
          <p:nvPr/>
        </p:nvSpPr>
        <p:spPr>
          <a:xfrm>
            <a:off x="11000232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tore dot 239"/>
          <p:cNvSpPr/>
          <p:nvPr/>
        </p:nvSpPr>
        <p:spPr>
          <a:xfrm>
            <a:off x="11173968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tore dot 240"/>
          <p:cNvSpPr/>
          <p:nvPr/>
        </p:nvSpPr>
        <p:spPr>
          <a:xfrm>
            <a:off x="11347704" y="231343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tore dot 241"/>
          <p:cNvSpPr/>
          <p:nvPr/>
        </p:nvSpPr>
        <p:spPr>
          <a:xfrm>
            <a:off x="630936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tore dot 242"/>
          <p:cNvSpPr/>
          <p:nvPr/>
        </p:nvSpPr>
        <p:spPr>
          <a:xfrm>
            <a:off x="648309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tore dot 243"/>
          <p:cNvSpPr/>
          <p:nvPr/>
        </p:nvSpPr>
        <p:spPr>
          <a:xfrm>
            <a:off x="665683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tore dot 244"/>
          <p:cNvSpPr/>
          <p:nvPr/>
        </p:nvSpPr>
        <p:spPr>
          <a:xfrm>
            <a:off x="683056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tore dot 245"/>
          <p:cNvSpPr/>
          <p:nvPr/>
        </p:nvSpPr>
        <p:spPr>
          <a:xfrm>
            <a:off x="700430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tore dot 246"/>
          <p:cNvSpPr/>
          <p:nvPr/>
        </p:nvSpPr>
        <p:spPr>
          <a:xfrm>
            <a:off x="717804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tore dot 247"/>
          <p:cNvSpPr/>
          <p:nvPr/>
        </p:nvSpPr>
        <p:spPr>
          <a:xfrm>
            <a:off x="735177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tore dot 248"/>
          <p:cNvSpPr/>
          <p:nvPr/>
        </p:nvSpPr>
        <p:spPr>
          <a:xfrm>
            <a:off x="752551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tore dot 249"/>
          <p:cNvSpPr/>
          <p:nvPr/>
        </p:nvSpPr>
        <p:spPr>
          <a:xfrm>
            <a:off x="769924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tore dot 250"/>
          <p:cNvSpPr/>
          <p:nvPr/>
        </p:nvSpPr>
        <p:spPr>
          <a:xfrm>
            <a:off x="787298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tore dot 251"/>
          <p:cNvSpPr/>
          <p:nvPr/>
        </p:nvSpPr>
        <p:spPr>
          <a:xfrm>
            <a:off x="804672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tore dot 252"/>
          <p:cNvSpPr/>
          <p:nvPr/>
        </p:nvSpPr>
        <p:spPr>
          <a:xfrm>
            <a:off x="822045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tore dot 253"/>
          <p:cNvSpPr/>
          <p:nvPr/>
        </p:nvSpPr>
        <p:spPr>
          <a:xfrm>
            <a:off x="839419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tore dot 254"/>
          <p:cNvSpPr/>
          <p:nvPr/>
        </p:nvSpPr>
        <p:spPr>
          <a:xfrm>
            <a:off x="856792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tore dot 255"/>
          <p:cNvSpPr/>
          <p:nvPr/>
        </p:nvSpPr>
        <p:spPr>
          <a:xfrm>
            <a:off x="874166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tore dot 256"/>
          <p:cNvSpPr/>
          <p:nvPr/>
        </p:nvSpPr>
        <p:spPr>
          <a:xfrm>
            <a:off x="891540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tore dot 257"/>
          <p:cNvSpPr/>
          <p:nvPr/>
        </p:nvSpPr>
        <p:spPr>
          <a:xfrm>
            <a:off x="908913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tore dot 258"/>
          <p:cNvSpPr/>
          <p:nvPr/>
        </p:nvSpPr>
        <p:spPr>
          <a:xfrm>
            <a:off x="926287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tore dot 259"/>
          <p:cNvSpPr/>
          <p:nvPr/>
        </p:nvSpPr>
        <p:spPr>
          <a:xfrm>
            <a:off x="943660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tore dot 260"/>
          <p:cNvSpPr/>
          <p:nvPr/>
        </p:nvSpPr>
        <p:spPr>
          <a:xfrm>
            <a:off x="961034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tore dot 261"/>
          <p:cNvSpPr/>
          <p:nvPr/>
        </p:nvSpPr>
        <p:spPr>
          <a:xfrm>
            <a:off x="978408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Store dot 262"/>
          <p:cNvSpPr/>
          <p:nvPr/>
        </p:nvSpPr>
        <p:spPr>
          <a:xfrm>
            <a:off x="995781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Store dot 263"/>
          <p:cNvSpPr/>
          <p:nvPr/>
        </p:nvSpPr>
        <p:spPr>
          <a:xfrm>
            <a:off x="1013155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tore dot 264"/>
          <p:cNvSpPr/>
          <p:nvPr/>
        </p:nvSpPr>
        <p:spPr>
          <a:xfrm>
            <a:off x="1030528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tore dot 265"/>
          <p:cNvSpPr/>
          <p:nvPr/>
        </p:nvSpPr>
        <p:spPr>
          <a:xfrm>
            <a:off x="1047902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Store dot 266"/>
          <p:cNvSpPr/>
          <p:nvPr/>
        </p:nvSpPr>
        <p:spPr>
          <a:xfrm>
            <a:off x="10652760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Store dot 267"/>
          <p:cNvSpPr/>
          <p:nvPr/>
        </p:nvSpPr>
        <p:spPr>
          <a:xfrm>
            <a:off x="10826496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Store dot 268"/>
          <p:cNvSpPr/>
          <p:nvPr/>
        </p:nvSpPr>
        <p:spPr>
          <a:xfrm>
            <a:off x="11000232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tore dot 269"/>
          <p:cNvSpPr/>
          <p:nvPr/>
        </p:nvSpPr>
        <p:spPr>
          <a:xfrm>
            <a:off x="11173968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Store dot 270"/>
          <p:cNvSpPr/>
          <p:nvPr/>
        </p:nvSpPr>
        <p:spPr>
          <a:xfrm>
            <a:off x="11347704" y="248716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Store dot 271"/>
          <p:cNvSpPr/>
          <p:nvPr/>
        </p:nvSpPr>
        <p:spPr>
          <a:xfrm>
            <a:off x="630936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Store dot 272"/>
          <p:cNvSpPr/>
          <p:nvPr/>
        </p:nvSpPr>
        <p:spPr>
          <a:xfrm>
            <a:off x="648309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Store dot 273"/>
          <p:cNvSpPr/>
          <p:nvPr/>
        </p:nvSpPr>
        <p:spPr>
          <a:xfrm>
            <a:off x="665683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Store dot 274"/>
          <p:cNvSpPr/>
          <p:nvPr/>
        </p:nvSpPr>
        <p:spPr>
          <a:xfrm>
            <a:off x="683056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Store dot 275"/>
          <p:cNvSpPr/>
          <p:nvPr/>
        </p:nvSpPr>
        <p:spPr>
          <a:xfrm>
            <a:off x="700430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Store dot 276"/>
          <p:cNvSpPr/>
          <p:nvPr/>
        </p:nvSpPr>
        <p:spPr>
          <a:xfrm>
            <a:off x="717804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8" name="Store dot 277"/>
          <p:cNvSpPr/>
          <p:nvPr/>
        </p:nvSpPr>
        <p:spPr>
          <a:xfrm>
            <a:off x="735177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Store dot 278"/>
          <p:cNvSpPr/>
          <p:nvPr/>
        </p:nvSpPr>
        <p:spPr>
          <a:xfrm>
            <a:off x="752551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0" name="Store dot 279"/>
          <p:cNvSpPr/>
          <p:nvPr/>
        </p:nvSpPr>
        <p:spPr>
          <a:xfrm>
            <a:off x="769924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Store dot 280"/>
          <p:cNvSpPr/>
          <p:nvPr/>
        </p:nvSpPr>
        <p:spPr>
          <a:xfrm>
            <a:off x="787298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2" name="Store dot 281"/>
          <p:cNvSpPr/>
          <p:nvPr/>
        </p:nvSpPr>
        <p:spPr>
          <a:xfrm>
            <a:off x="804672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3" name="Store dot 282"/>
          <p:cNvSpPr/>
          <p:nvPr/>
        </p:nvSpPr>
        <p:spPr>
          <a:xfrm>
            <a:off x="822045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Store dot 283"/>
          <p:cNvSpPr/>
          <p:nvPr/>
        </p:nvSpPr>
        <p:spPr>
          <a:xfrm>
            <a:off x="839419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5" name="Store dot 284"/>
          <p:cNvSpPr/>
          <p:nvPr/>
        </p:nvSpPr>
        <p:spPr>
          <a:xfrm>
            <a:off x="856792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6" name="Store dot 285"/>
          <p:cNvSpPr/>
          <p:nvPr/>
        </p:nvSpPr>
        <p:spPr>
          <a:xfrm>
            <a:off x="874166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Store dot 286"/>
          <p:cNvSpPr/>
          <p:nvPr/>
        </p:nvSpPr>
        <p:spPr>
          <a:xfrm>
            <a:off x="891540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8" name="Store dot 287"/>
          <p:cNvSpPr/>
          <p:nvPr/>
        </p:nvSpPr>
        <p:spPr>
          <a:xfrm>
            <a:off x="908913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9" name="Store dot 288"/>
          <p:cNvSpPr/>
          <p:nvPr/>
        </p:nvSpPr>
        <p:spPr>
          <a:xfrm>
            <a:off x="926287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Store dot 289"/>
          <p:cNvSpPr/>
          <p:nvPr/>
        </p:nvSpPr>
        <p:spPr>
          <a:xfrm>
            <a:off x="943660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1" name="Store dot 290"/>
          <p:cNvSpPr/>
          <p:nvPr/>
        </p:nvSpPr>
        <p:spPr>
          <a:xfrm>
            <a:off x="961034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2" name="Store dot 291"/>
          <p:cNvSpPr/>
          <p:nvPr/>
        </p:nvSpPr>
        <p:spPr>
          <a:xfrm>
            <a:off x="978408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Store dot 292"/>
          <p:cNvSpPr/>
          <p:nvPr/>
        </p:nvSpPr>
        <p:spPr>
          <a:xfrm>
            <a:off x="995781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4" name="Store dot 293"/>
          <p:cNvSpPr/>
          <p:nvPr/>
        </p:nvSpPr>
        <p:spPr>
          <a:xfrm>
            <a:off x="1013155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5" name="Store dot 294"/>
          <p:cNvSpPr/>
          <p:nvPr/>
        </p:nvSpPr>
        <p:spPr>
          <a:xfrm>
            <a:off x="1030528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6" name="Store dot 295"/>
          <p:cNvSpPr/>
          <p:nvPr/>
        </p:nvSpPr>
        <p:spPr>
          <a:xfrm>
            <a:off x="1047902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7" name="Store dot 296"/>
          <p:cNvSpPr/>
          <p:nvPr/>
        </p:nvSpPr>
        <p:spPr>
          <a:xfrm>
            <a:off x="10652760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8" name="Store dot 297"/>
          <p:cNvSpPr/>
          <p:nvPr/>
        </p:nvSpPr>
        <p:spPr>
          <a:xfrm>
            <a:off x="10826496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9" name="Store dot 298"/>
          <p:cNvSpPr/>
          <p:nvPr/>
        </p:nvSpPr>
        <p:spPr>
          <a:xfrm>
            <a:off x="11000232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0" name="Store dot 299"/>
          <p:cNvSpPr/>
          <p:nvPr/>
        </p:nvSpPr>
        <p:spPr>
          <a:xfrm>
            <a:off x="11173968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1" name="Store dot 300"/>
          <p:cNvSpPr/>
          <p:nvPr/>
        </p:nvSpPr>
        <p:spPr>
          <a:xfrm>
            <a:off x="11347704" y="266090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2" name="Store dot 301"/>
          <p:cNvSpPr/>
          <p:nvPr/>
        </p:nvSpPr>
        <p:spPr>
          <a:xfrm>
            <a:off x="630936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3" name="Store dot 302"/>
          <p:cNvSpPr/>
          <p:nvPr/>
        </p:nvSpPr>
        <p:spPr>
          <a:xfrm>
            <a:off x="648309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4" name="Store dot 303"/>
          <p:cNvSpPr/>
          <p:nvPr/>
        </p:nvSpPr>
        <p:spPr>
          <a:xfrm>
            <a:off x="665683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5" name="Store dot 304"/>
          <p:cNvSpPr/>
          <p:nvPr/>
        </p:nvSpPr>
        <p:spPr>
          <a:xfrm>
            <a:off x="683056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6" name="Store dot 305"/>
          <p:cNvSpPr/>
          <p:nvPr/>
        </p:nvSpPr>
        <p:spPr>
          <a:xfrm>
            <a:off x="700430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7" name="Store dot 306"/>
          <p:cNvSpPr/>
          <p:nvPr/>
        </p:nvSpPr>
        <p:spPr>
          <a:xfrm>
            <a:off x="717804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8" name="Store dot 307"/>
          <p:cNvSpPr/>
          <p:nvPr/>
        </p:nvSpPr>
        <p:spPr>
          <a:xfrm>
            <a:off x="735177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9" name="Store dot 308"/>
          <p:cNvSpPr/>
          <p:nvPr/>
        </p:nvSpPr>
        <p:spPr>
          <a:xfrm>
            <a:off x="752551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" name="Store dot 309"/>
          <p:cNvSpPr/>
          <p:nvPr/>
        </p:nvSpPr>
        <p:spPr>
          <a:xfrm>
            <a:off x="769924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1" name="Store dot 310"/>
          <p:cNvSpPr/>
          <p:nvPr/>
        </p:nvSpPr>
        <p:spPr>
          <a:xfrm>
            <a:off x="787298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2" name="Store dot 311"/>
          <p:cNvSpPr/>
          <p:nvPr/>
        </p:nvSpPr>
        <p:spPr>
          <a:xfrm>
            <a:off x="804672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3" name="Store dot 312"/>
          <p:cNvSpPr/>
          <p:nvPr/>
        </p:nvSpPr>
        <p:spPr>
          <a:xfrm>
            <a:off x="822045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4" name="Store dot 313"/>
          <p:cNvSpPr/>
          <p:nvPr/>
        </p:nvSpPr>
        <p:spPr>
          <a:xfrm>
            <a:off x="839419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5" name="Store dot 314"/>
          <p:cNvSpPr/>
          <p:nvPr/>
        </p:nvSpPr>
        <p:spPr>
          <a:xfrm>
            <a:off x="856792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6" name="Store dot 315"/>
          <p:cNvSpPr/>
          <p:nvPr/>
        </p:nvSpPr>
        <p:spPr>
          <a:xfrm>
            <a:off x="874166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7" name="Store dot 316"/>
          <p:cNvSpPr/>
          <p:nvPr/>
        </p:nvSpPr>
        <p:spPr>
          <a:xfrm>
            <a:off x="891540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8" name="Store dot 317"/>
          <p:cNvSpPr/>
          <p:nvPr/>
        </p:nvSpPr>
        <p:spPr>
          <a:xfrm>
            <a:off x="908913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9" name="Store dot 318"/>
          <p:cNvSpPr/>
          <p:nvPr/>
        </p:nvSpPr>
        <p:spPr>
          <a:xfrm>
            <a:off x="926287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tore dot 319"/>
          <p:cNvSpPr/>
          <p:nvPr/>
        </p:nvSpPr>
        <p:spPr>
          <a:xfrm>
            <a:off x="943660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Store dot 320"/>
          <p:cNvSpPr/>
          <p:nvPr/>
        </p:nvSpPr>
        <p:spPr>
          <a:xfrm>
            <a:off x="961034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2" name="Store dot 321"/>
          <p:cNvSpPr/>
          <p:nvPr/>
        </p:nvSpPr>
        <p:spPr>
          <a:xfrm>
            <a:off x="978408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3" name="Store dot 322"/>
          <p:cNvSpPr/>
          <p:nvPr/>
        </p:nvSpPr>
        <p:spPr>
          <a:xfrm>
            <a:off x="995781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4" name="Store dot 323"/>
          <p:cNvSpPr/>
          <p:nvPr/>
        </p:nvSpPr>
        <p:spPr>
          <a:xfrm>
            <a:off x="1013155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tore dot 324"/>
          <p:cNvSpPr/>
          <p:nvPr/>
        </p:nvSpPr>
        <p:spPr>
          <a:xfrm>
            <a:off x="1030528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Store dot 325"/>
          <p:cNvSpPr/>
          <p:nvPr/>
        </p:nvSpPr>
        <p:spPr>
          <a:xfrm>
            <a:off x="1047902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7" name="Store dot 326"/>
          <p:cNvSpPr/>
          <p:nvPr/>
        </p:nvSpPr>
        <p:spPr>
          <a:xfrm>
            <a:off x="10652760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8" name="Store dot 327"/>
          <p:cNvSpPr/>
          <p:nvPr/>
        </p:nvSpPr>
        <p:spPr>
          <a:xfrm>
            <a:off x="10826496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9" name="Store dot 328"/>
          <p:cNvSpPr/>
          <p:nvPr/>
        </p:nvSpPr>
        <p:spPr>
          <a:xfrm>
            <a:off x="11000232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tore dot 329"/>
          <p:cNvSpPr/>
          <p:nvPr/>
        </p:nvSpPr>
        <p:spPr>
          <a:xfrm>
            <a:off x="11173968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Store dot 330"/>
          <p:cNvSpPr/>
          <p:nvPr/>
        </p:nvSpPr>
        <p:spPr>
          <a:xfrm>
            <a:off x="11347704" y="2834640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2" name="Store dot 331"/>
          <p:cNvSpPr/>
          <p:nvPr/>
        </p:nvSpPr>
        <p:spPr>
          <a:xfrm>
            <a:off x="630936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3" name="Store dot 332"/>
          <p:cNvSpPr/>
          <p:nvPr/>
        </p:nvSpPr>
        <p:spPr>
          <a:xfrm>
            <a:off x="648309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4" name="Store dot 333"/>
          <p:cNvSpPr/>
          <p:nvPr/>
        </p:nvSpPr>
        <p:spPr>
          <a:xfrm>
            <a:off x="665683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5" name="Store dot 334"/>
          <p:cNvSpPr/>
          <p:nvPr/>
        </p:nvSpPr>
        <p:spPr>
          <a:xfrm>
            <a:off x="683056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6" name="Store dot 335"/>
          <p:cNvSpPr/>
          <p:nvPr/>
        </p:nvSpPr>
        <p:spPr>
          <a:xfrm>
            <a:off x="700430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7" name="Store dot 336"/>
          <p:cNvSpPr/>
          <p:nvPr/>
        </p:nvSpPr>
        <p:spPr>
          <a:xfrm>
            <a:off x="717804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8" name="Store dot 337"/>
          <p:cNvSpPr/>
          <p:nvPr/>
        </p:nvSpPr>
        <p:spPr>
          <a:xfrm>
            <a:off x="735177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9" name="Store dot 338"/>
          <p:cNvSpPr/>
          <p:nvPr/>
        </p:nvSpPr>
        <p:spPr>
          <a:xfrm>
            <a:off x="752551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0" name="Store dot 339"/>
          <p:cNvSpPr/>
          <p:nvPr/>
        </p:nvSpPr>
        <p:spPr>
          <a:xfrm>
            <a:off x="769924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1" name="Store dot 340"/>
          <p:cNvSpPr/>
          <p:nvPr/>
        </p:nvSpPr>
        <p:spPr>
          <a:xfrm>
            <a:off x="787298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2" name="Store dot 341"/>
          <p:cNvSpPr/>
          <p:nvPr/>
        </p:nvSpPr>
        <p:spPr>
          <a:xfrm>
            <a:off x="804672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3" name="Store dot 342"/>
          <p:cNvSpPr/>
          <p:nvPr/>
        </p:nvSpPr>
        <p:spPr>
          <a:xfrm>
            <a:off x="822045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4" name="Store dot 343"/>
          <p:cNvSpPr/>
          <p:nvPr/>
        </p:nvSpPr>
        <p:spPr>
          <a:xfrm>
            <a:off x="839419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5" name="Store dot 344"/>
          <p:cNvSpPr/>
          <p:nvPr/>
        </p:nvSpPr>
        <p:spPr>
          <a:xfrm>
            <a:off x="856792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6" name="Store dot 345"/>
          <p:cNvSpPr/>
          <p:nvPr/>
        </p:nvSpPr>
        <p:spPr>
          <a:xfrm>
            <a:off x="874166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7" name="Store dot 346"/>
          <p:cNvSpPr/>
          <p:nvPr/>
        </p:nvSpPr>
        <p:spPr>
          <a:xfrm>
            <a:off x="891540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8" name="Store dot 347"/>
          <p:cNvSpPr/>
          <p:nvPr/>
        </p:nvSpPr>
        <p:spPr>
          <a:xfrm>
            <a:off x="908913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9" name="Store dot 348"/>
          <p:cNvSpPr/>
          <p:nvPr/>
        </p:nvSpPr>
        <p:spPr>
          <a:xfrm>
            <a:off x="926287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0" name="Store dot 349"/>
          <p:cNvSpPr/>
          <p:nvPr/>
        </p:nvSpPr>
        <p:spPr>
          <a:xfrm>
            <a:off x="943660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1" name="Store dot 350"/>
          <p:cNvSpPr/>
          <p:nvPr/>
        </p:nvSpPr>
        <p:spPr>
          <a:xfrm>
            <a:off x="961034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2" name="Store dot 351"/>
          <p:cNvSpPr/>
          <p:nvPr/>
        </p:nvSpPr>
        <p:spPr>
          <a:xfrm>
            <a:off x="978408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3" name="Store dot 352"/>
          <p:cNvSpPr/>
          <p:nvPr/>
        </p:nvSpPr>
        <p:spPr>
          <a:xfrm>
            <a:off x="995781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4" name="Store dot 353"/>
          <p:cNvSpPr/>
          <p:nvPr/>
        </p:nvSpPr>
        <p:spPr>
          <a:xfrm>
            <a:off x="1013155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5" name="Store dot 354"/>
          <p:cNvSpPr/>
          <p:nvPr/>
        </p:nvSpPr>
        <p:spPr>
          <a:xfrm>
            <a:off x="1030528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6" name="Store dot 355"/>
          <p:cNvSpPr/>
          <p:nvPr/>
        </p:nvSpPr>
        <p:spPr>
          <a:xfrm>
            <a:off x="1047902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7" name="Store dot 356"/>
          <p:cNvSpPr/>
          <p:nvPr/>
        </p:nvSpPr>
        <p:spPr>
          <a:xfrm>
            <a:off x="10652760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8" name="Store dot 357"/>
          <p:cNvSpPr/>
          <p:nvPr/>
        </p:nvSpPr>
        <p:spPr>
          <a:xfrm>
            <a:off x="10826496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9" name="Store dot 358"/>
          <p:cNvSpPr/>
          <p:nvPr/>
        </p:nvSpPr>
        <p:spPr>
          <a:xfrm>
            <a:off x="11000232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0" name="Store dot 359"/>
          <p:cNvSpPr/>
          <p:nvPr/>
        </p:nvSpPr>
        <p:spPr>
          <a:xfrm>
            <a:off x="11173968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1" name="Store dot 360"/>
          <p:cNvSpPr/>
          <p:nvPr/>
        </p:nvSpPr>
        <p:spPr>
          <a:xfrm>
            <a:off x="11347704" y="300837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2" name="Store dot 361"/>
          <p:cNvSpPr/>
          <p:nvPr/>
        </p:nvSpPr>
        <p:spPr>
          <a:xfrm>
            <a:off x="630936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3" name="Store dot 362"/>
          <p:cNvSpPr/>
          <p:nvPr/>
        </p:nvSpPr>
        <p:spPr>
          <a:xfrm>
            <a:off x="648309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4" name="Store dot 363"/>
          <p:cNvSpPr/>
          <p:nvPr/>
        </p:nvSpPr>
        <p:spPr>
          <a:xfrm>
            <a:off x="665683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5" name="Store dot 364"/>
          <p:cNvSpPr/>
          <p:nvPr/>
        </p:nvSpPr>
        <p:spPr>
          <a:xfrm>
            <a:off x="683056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6" name="Store dot 365"/>
          <p:cNvSpPr/>
          <p:nvPr/>
        </p:nvSpPr>
        <p:spPr>
          <a:xfrm>
            <a:off x="700430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7" name="Store dot 366"/>
          <p:cNvSpPr/>
          <p:nvPr/>
        </p:nvSpPr>
        <p:spPr>
          <a:xfrm>
            <a:off x="717804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8" name="Store dot 367"/>
          <p:cNvSpPr/>
          <p:nvPr/>
        </p:nvSpPr>
        <p:spPr>
          <a:xfrm>
            <a:off x="735177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9" name="Store dot 368"/>
          <p:cNvSpPr/>
          <p:nvPr/>
        </p:nvSpPr>
        <p:spPr>
          <a:xfrm>
            <a:off x="752551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0" name="Store dot 369"/>
          <p:cNvSpPr/>
          <p:nvPr/>
        </p:nvSpPr>
        <p:spPr>
          <a:xfrm>
            <a:off x="769924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1" name="Store dot 370"/>
          <p:cNvSpPr/>
          <p:nvPr/>
        </p:nvSpPr>
        <p:spPr>
          <a:xfrm>
            <a:off x="787298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2" name="Store dot 371"/>
          <p:cNvSpPr/>
          <p:nvPr/>
        </p:nvSpPr>
        <p:spPr>
          <a:xfrm>
            <a:off x="804672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3" name="Store dot 372"/>
          <p:cNvSpPr/>
          <p:nvPr/>
        </p:nvSpPr>
        <p:spPr>
          <a:xfrm>
            <a:off x="822045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4" name="Store dot 373"/>
          <p:cNvSpPr/>
          <p:nvPr/>
        </p:nvSpPr>
        <p:spPr>
          <a:xfrm>
            <a:off x="839419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5" name="Store dot 374"/>
          <p:cNvSpPr/>
          <p:nvPr/>
        </p:nvSpPr>
        <p:spPr>
          <a:xfrm>
            <a:off x="856792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6" name="Store dot 375"/>
          <p:cNvSpPr/>
          <p:nvPr/>
        </p:nvSpPr>
        <p:spPr>
          <a:xfrm>
            <a:off x="874166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7" name="Store dot 376"/>
          <p:cNvSpPr/>
          <p:nvPr/>
        </p:nvSpPr>
        <p:spPr>
          <a:xfrm>
            <a:off x="891540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8" name="Store dot 377"/>
          <p:cNvSpPr/>
          <p:nvPr/>
        </p:nvSpPr>
        <p:spPr>
          <a:xfrm>
            <a:off x="908913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9" name="Store dot 378"/>
          <p:cNvSpPr/>
          <p:nvPr/>
        </p:nvSpPr>
        <p:spPr>
          <a:xfrm>
            <a:off x="926287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0" name="Store dot 379"/>
          <p:cNvSpPr/>
          <p:nvPr/>
        </p:nvSpPr>
        <p:spPr>
          <a:xfrm>
            <a:off x="943660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1" name="Store dot 380"/>
          <p:cNvSpPr/>
          <p:nvPr/>
        </p:nvSpPr>
        <p:spPr>
          <a:xfrm>
            <a:off x="961034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2" name="Store dot 381"/>
          <p:cNvSpPr/>
          <p:nvPr/>
        </p:nvSpPr>
        <p:spPr>
          <a:xfrm>
            <a:off x="978408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3" name="Store dot 382"/>
          <p:cNvSpPr/>
          <p:nvPr/>
        </p:nvSpPr>
        <p:spPr>
          <a:xfrm>
            <a:off x="995781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4" name="Store dot 383"/>
          <p:cNvSpPr/>
          <p:nvPr/>
        </p:nvSpPr>
        <p:spPr>
          <a:xfrm>
            <a:off x="1013155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5" name="Store dot 384"/>
          <p:cNvSpPr/>
          <p:nvPr/>
        </p:nvSpPr>
        <p:spPr>
          <a:xfrm>
            <a:off x="1030528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6" name="Store dot 385"/>
          <p:cNvSpPr/>
          <p:nvPr/>
        </p:nvSpPr>
        <p:spPr>
          <a:xfrm>
            <a:off x="1047902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7" name="Store dot 386"/>
          <p:cNvSpPr/>
          <p:nvPr/>
        </p:nvSpPr>
        <p:spPr>
          <a:xfrm>
            <a:off x="10652760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8" name="Store dot 387"/>
          <p:cNvSpPr/>
          <p:nvPr/>
        </p:nvSpPr>
        <p:spPr>
          <a:xfrm>
            <a:off x="10826496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9" name="Store dot 388"/>
          <p:cNvSpPr/>
          <p:nvPr/>
        </p:nvSpPr>
        <p:spPr>
          <a:xfrm>
            <a:off x="11000232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0" name="Store dot 389"/>
          <p:cNvSpPr/>
          <p:nvPr/>
        </p:nvSpPr>
        <p:spPr>
          <a:xfrm>
            <a:off x="11173968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1" name="Store dot 390"/>
          <p:cNvSpPr/>
          <p:nvPr/>
        </p:nvSpPr>
        <p:spPr>
          <a:xfrm>
            <a:off x="11347704" y="3182112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2" name="Store dot 391"/>
          <p:cNvSpPr/>
          <p:nvPr/>
        </p:nvSpPr>
        <p:spPr>
          <a:xfrm>
            <a:off x="630936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3" name="Store dot 392"/>
          <p:cNvSpPr/>
          <p:nvPr/>
        </p:nvSpPr>
        <p:spPr>
          <a:xfrm>
            <a:off x="648309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4" name="Store dot 393"/>
          <p:cNvSpPr/>
          <p:nvPr/>
        </p:nvSpPr>
        <p:spPr>
          <a:xfrm>
            <a:off x="665683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5" name="Store dot 394"/>
          <p:cNvSpPr/>
          <p:nvPr/>
        </p:nvSpPr>
        <p:spPr>
          <a:xfrm>
            <a:off x="683056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6" name="Store dot 395"/>
          <p:cNvSpPr/>
          <p:nvPr/>
        </p:nvSpPr>
        <p:spPr>
          <a:xfrm>
            <a:off x="700430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7" name="Store dot 396"/>
          <p:cNvSpPr/>
          <p:nvPr/>
        </p:nvSpPr>
        <p:spPr>
          <a:xfrm>
            <a:off x="717804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8" name="Store dot 397"/>
          <p:cNvSpPr/>
          <p:nvPr/>
        </p:nvSpPr>
        <p:spPr>
          <a:xfrm>
            <a:off x="735177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Store dot 398"/>
          <p:cNvSpPr/>
          <p:nvPr/>
        </p:nvSpPr>
        <p:spPr>
          <a:xfrm>
            <a:off x="752551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0" name="Store dot 399"/>
          <p:cNvSpPr/>
          <p:nvPr/>
        </p:nvSpPr>
        <p:spPr>
          <a:xfrm>
            <a:off x="769924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Store dot 400"/>
          <p:cNvSpPr/>
          <p:nvPr/>
        </p:nvSpPr>
        <p:spPr>
          <a:xfrm>
            <a:off x="787298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2" name="Store dot 401"/>
          <p:cNvSpPr/>
          <p:nvPr/>
        </p:nvSpPr>
        <p:spPr>
          <a:xfrm>
            <a:off x="804672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3" name="Store dot 402"/>
          <p:cNvSpPr/>
          <p:nvPr/>
        </p:nvSpPr>
        <p:spPr>
          <a:xfrm>
            <a:off x="822045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Store dot 403"/>
          <p:cNvSpPr/>
          <p:nvPr/>
        </p:nvSpPr>
        <p:spPr>
          <a:xfrm>
            <a:off x="839419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5" name="Store dot 404"/>
          <p:cNvSpPr/>
          <p:nvPr/>
        </p:nvSpPr>
        <p:spPr>
          <a:xfrm>
            <a:off x="856792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6" name="Store dot 405"/>
          <p:cNvSpPr/>
          <p:nvPr/>
        </p:nvSpPr>
        <p:spPr>
          <a:xfrm>
            <a:off x="874166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7" name="Store dot 406"/>
          <p:cNvSpPr/>
          <p:nvPr/>
        </p:nvSpPr>
        <p:spPr>
          <a:xfrm>
            <a:off x="891540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8" name="Store dot 407"/>
          <p:cNvSpPr/>
          <p:nvPr/>
        </p:nvSpPr>
        <p:spPr>
          <a:xfrm>
            <a:off x="908913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9" name="Store dot 408"/>
          <p:cNvSpPr/>
          <p:nvPr/>
        </p:nvSpPr>
        <p:spPr>
          <a:xfrm>
            <a:off x="926287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0" name="Store dot 409"/>
          <p:cNvSpPr/>
          <p:nvPr/>
        </p:nvSpPr>
        <p:spPr>
          <a:xfrm>
            <a:off x="943660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1" name="Store dot 410"/>
          <p:cNvSpPr/>
          <p:nvPr/>
        </p:nvSpPr>
        <p:spPr>
          <a:xfrm>
            <a:off x="961034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2" name="Store dot 411"/>
          <p:cNvSpPr/>
          <p:nvPr/>
        </p:nvSpPr>
        <p:spPr>
          <a:xfrm>
            <a:off x="978408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3" name="Store dot 412"/>
          <p:cNvSpPr/>
          <p:nvPr/>
        </p:nvSpPr>
        <p:spPr>
          <a:xfrm>
            <a:off x="995781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4" name="Store dot 413"/>
          <p:cNvSpPr/>
          <p:nvPr/>
        </p:nvSpPr>
        <p:spPr>
          <a:xfrm>
            <a:off x="1013155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5" name="Store dot 414"/>
          <p:cNvSpPr/>
          <p:nvPr/>
        </p:nvSpPr>
        <p:spPr>
          <a:xfrm>
            <a:off x="1030528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6" name="Store dot 415"/>
          <p:cNvSpPr/>
          <p:nvPr/>
        </p:nvSpPr>
        <p:spPr>
          <a:xfrm>
            <a:off x="1047902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7" name="Store dot 416"/>
          <p:cNvSpPr/>
          <p:nvPr/>
        </p:nvSpPr>
        <p:spPr>
          <a:xfrm>
            <a:off x="10652760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8" name="Store dot 417"/>
          <p:cNvSpPr/>
          <p:nvPr/>
        </p:nvSpPr>
        <p:spPr>
          <a:xfrm>
            <a:off x="10826496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Store dot 418"/>
          <p:cNvSpPr/>
          <p:nvPr/>
        </p:nvSpPr>
        <p:spPr>
          <a:xfrm>
            <a:off x="11000232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0" name="Store dot 419"/>
          <p:cNvSpPr/>
          <p:nvPr/>
        </p:nvSpPr>
        <p:spPr>
          <a:xfrm>
            <a:off x="11173968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1" name="Store dot 420"/>
          <p:cNvSpPr/>
          <p:nvPr/>
        </p:nvSpPr>
        <p:spPr>
          <a:xfrm>
            <a:off x="11347704" y="3355848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2" name="Store dot 421"/>
          <p:cNvSpPr/>
          <p:nvPr/>
        </p:nvSpPr>
        <p:spPr>
          <a:xfrm>
            <a:off x="6309360" y="352958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3" name="Store dot 422"/>
          <p:cNvSpPr/>
          <p:nvPr/>
        </p:nvSpPr>
        <p:spPr>
          <a:xfrm>
            <a:off x="6483096" y="352958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4" name="Store dot 423"/>
          <p:cNvSpPr/>
          <p:nvPr/>
        </p:nvSpPr>
        <p:spPr>
          <a:xfrm>
            <a:off x="6656832" y="352958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5" name="Store dot 424"/>
          <p:cNvSpPr/>
          <p:nvPr/>
        </p:nvSpPr>
        <p:spPr>
          <a:xfrm>
            <a:off x="6830568" y="3529584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6" name="Store dot 425"/>
          <p:cNvSpPr/>
          <p:nvPr/>
        </p:nvSpPr>
        <p:spPr>
          <a:xfrm>
            <a:off x="700430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7" name="Store dot 426"/>
          <p:cNvSpPr/>
          <p:nvPr/>
        </p:nvSpPr>
        <p:spPr>
          <a:xfrm>
            <a:off x="7178040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8" name="Store dot 427"/>
          <p:cNvSpPr/>
          <p:nvPr/>
        </p:nvSpPr>
        <p:spPr>
          <a:xfrm>
            <a:off x="7351776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9" name="Store dot 428"/>
          <p:cNvSpPr/>
          <p:nvPr/>
        </p:nvSpPr>
        <p:spPr>
          <a:xfrm>
            <a:off x="7525512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0" name="Store dot 429"/>
          <p:cNvSpPr/>
          <p:nvPr/>
        </p:nvSpPr>
        <p:spPr>
          <a:xfrm>
            <a:off x="7699248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1" name="Store dot 430"/>
          <p:cNvSpPr/>
          <p:nvPr/>
        </p:nvSpPr>
        <p:spPr>
          <a:xfrm>
            <a:off x="787298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2" name="Store dot 431"/>
          <p:cNvSpPr/>
          <p:nvPr/>
        </p:nvSpPr>
        <p:spPr>
          <a:xfrm>
            <a:off x="8046720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3" name="Store dot 432"/>
          <p:cNvSpPr/>
          <p:nvPr/>
        </p:nvSpPr>
        <p:spPr>
          <a:xfrm>
            <a:off x="8220456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4" name="Store dot 433"/>
          <p:cNvSpPr/>
          <p:nvPr/>
        </p:nvSpPr>
        <p:spPr>
          <a:xfrm>
            <a:off x="8394192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5" name="Store dot 434"/>
          <p:cNvSpPr/>
          <p:nvPr/>
        </p:nvSpPr>
        <p:spPr>
          <a:xfrm>
            <a:off x="8567928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6" name="Store dot 435"/>
          <p:cNvSpPr/>
          <p:nvPr/>
        </p:nvSpPr>
        <p:spPr>
          <a:xfrm>
            <a:off x="874166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7" name="Store dot 436"/>
          <p:cNvSpPr/>
          <p:nvPr/>
        </p:nvSpPr>
        <p:spPr>
          <a:xfrm>
            <a:off x="8915400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8" name="Store dot 437"/>
          <p:cNvSpPr/>
          <p:nvPr/>
        </p:nvSpPr>
        <p:spPr>
          <a:xfrm>
            <a:off x="9089136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Store dot 438"/>
          <p:cNvSpPr/>
          <p:nvPr/>
        </p:nvSpPr>
        <p:spPr>
          <a:xfrm>
            <a:off x="9262872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0" name="Store dot 439"/>
          <p:cNvSpPr/>
          <p:nvPr/>
        </p:nvSpPr>
        <p:spPr>
          <a:xfrm>
            <a:off x="9436608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1" name="Store dot 440"/>
          <p:cNvSpPr/>
          <p:nvPr/>
        </p:nvSpPr>
        <p:spPr>
          <a:xfrm>
            <a:off x="961034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2" name="Store dot 441"/>
          <p:cNvSpPr/>
          <p:nvPr/>
        </p:nvSpPr>
        <p:spPr>
          <a:xfrm>
            <a:off x="9784080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3" name="Store dot 442"/>
          <p:cNvSpPr/>
          <p:nvPr/>
        </p:nvSpPr>
        <p:spPr>
          <a:xfrm>
            <a:off x="9957816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4" name="Store dot 443"/>
          <p:cNvSpPr/>
          <p:nvPr/>
        </p:nvSpPr>
        <p:spPr>
          <a:xfrm>
            <a:off x="10131552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5" name="Store dot 444"/>
          <p:cNvSpPr/>
          <p:nvPr/>
        </p:nvSpPr>
        <p:spPr>
          <a:xfrm>
            <a:off x="10305288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6" name="Store dot 445"/>
          <p:cNvSpPr/>
          <p:nvPr/>
        </p:nvSpPr>
        <p:spPr>
          <a:xfrm>
            <a:off x="1047902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7" name="Store dot 446"/>
          <p:cNvSpPr/>
          <p:nvPr/>
        </p:nvSpPr>
        <p:spPr>
          <a:xfrm>
            <a:off x="10652760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8" name="Store dot 447"/>
          <p:cNvSpPr/>
          <p:nvPr/>
        </p:nvSpPr>
        <p:spPr>
          <a:xfrm>
            <a:off x="10826496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9" name="Store dot 448"/>
          <p:cNvSpPr/>
          <p:nvPr/>
        </p:nvSpPr>
        <p:spPr>
          <a:xfrm>
            <a:off x="11000232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0" name="Store dot 449"/>
          <p:cNvSpPr/>
          <p:nvPr/>
        </p:nvSpPr>
        <p:spPr>
          <a:xfrm>
            <a:off x="11173968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1" name="Store dot 450"/>
          <p:cNvSpPr/>
          <p:nvPr/>
        </p:nvSpPr>
        <p:spPr>
          <a:xfrm>
            <a:off x="11347704" y="352958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2" name="Store dot 451"/>
          <p:cNvSpPr/>
          <p:nvPr/>
        </p:nvSpPr>
        <p:spPr>
          <a:xfrm>
            <a:off x="630936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3" name="Store dot 452"/>
          <p:cNvSpPr/>
          <p:nvPr/>
        </p:nvSpPr>
        <p:spPr>
          <a:xfrm>
            <a:off x="648309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4" name="Store dot 453"/>
          <p:cNvSpPr/>
          <p:nvPr/>
        </p:nvSpPr>
        <p:spPr>
          <a:xfrm>
            <a:off x="665683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5" name="Store dot 454"/>
          <p:cNvSpPr/>
          <p:nvPr/>
        </p:nvSpPr>
        <p:spPr>
          <a:xfrm>
            <a:off x="683056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6" name="Store dot 455"/>
          <p:cNvSpPr/>
          <p:nvPr/>
        </p:nvSpPr>
        <p:spPr>
          <a:xfrm>
            <a:off x="700430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7" name="Store dot 456"/>
          <p:cNvSpPr/>
          <p:nvPr/>
        </p:nvSpPr>
        <p:spPr>
          <a:xfrm>
            <a:off x="717804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8" name="Store dot 457"/>
          <p:cNvSpPr/>
          <p:nvPr/>
        </p:nvSpPr>
        <p:spPr>
          <a:xfrm>
            <a:off x="735177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9" name="Store dot 458"/>
          <p:cNvSpPr/>
          <p:nvPr/>
        </p:nvSpPr>
        <p:spPr>
          <a:xfrm>
            <a:off x="752551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0" name="Store dot 459"/>
          <p:cNvSpPr/>
          <p:nvPr/>
        </p:nvSpPr>
        <p:spPr>
          <a:xfrm>
            <a:off x="769924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1" name="Store dot 460"/>
          <p:cNvSpPr/>
          <p:nvPr/>
        </p:nvSpPr>
        <p:spPr>
          <a:xfrm>
            <a:off x="787298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2" name="Store dot 461"/>
          <p:cNvSpPr/>
          <p:nvPr/>
        </p:nvSpPr>
        <p:spPr>
          <a:xfrm>
            <a:off x="804672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3" name="Store dot 462"/>
          <p:cNvSpPr/>
          <p:nvPr/>
        </p:nvSpPr>
        <p:spPr>
          <a:xfrm>
            <a:off x="822045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4" name="Store dot 463"/>
          <p:cNvSpPr/>
          <p:nvPr/>
        </p:nvSpPr>
        <p:spPr>
          <a:xfrm>
            <a:off x="839419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5" name="Store dot 464"/>
          <p:cNvSpPr/>
          <p:nvPr/>
        </p:nvSpPr>
        <p:spPr>
          <a:xfrm>
            <a:off x="856792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6" name="Store dot 465"/>
          <p:cNvSpPr/>
          <p:nvPr/>
        </p:nvSpPr>
        <p:spPr>
          <a:xfrm>
            <a:off x="874166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Store dot 466"/>
          <p:cNvSpPr/>
          <p:nvPr/>
        </p:nvSpPr>
        <p:spPr>
          <a:xfrm>
            <a:off x="891540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8" name="Store dot 467"/>
          <p:cNvSpPr/>
          <p:nvPr/>
        </p:nvSpPr>
        <p:spPr>
          <a:xfrm>
            <a:off x="908913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9" name="Store dot 468"/>
          <p:cNvSpPr/>
          <p:nvPr/>
        </p:nvSpPr>
        <p:spPr>
          <a:xfrm>
            <a:off x="926287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0" name="Store dot 469"/>
          <p:cNvSpPr/>
          <p:nvPr/>
        </p:nvSpPr>
        <p:spPr>
          <a:xfrm>
            <a:off x="943660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1" name="Store dot 470"/>
          <p:cNvSpPr/>
          <p:nvPr/>
        </p:nvSpPr>
        <p:spPr>
          <a:xfrm>
            <a:off x="961034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2" name="Store dot 471"/>
          <p:cNvSpPr/>
          <p:nvPr/>
        </p:nvSpPr>
        <p:spPr>
          <a:xfrm>
            <a:off x="978408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3" name="Store dot 472"/>
          <p:cNvSpPr/>
          <p:nvPr/>
        </p:nvSpPr>
        <p:spPr>
          <a:xfrm>
            <a:off x="995781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4" name="Store dot 473"/>
          <p:cNvSpPr/>
          <p:nvPr/>
        </p:nvSpPr>
        <p:spPr>
          <a:xfrm>
            <a:off x="1013155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Store dot 474"/>
          <p:cNvSpPr/>
          <p:nvPr/>
        </p:nvSpPr>
        <p:spPr>
          <a:xfrm>
            <a:off x="1030528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6" name="Store dot 475"/>
          <p:cNvSpPr/>
          <p:nvPr/>
        </p:nvSpPr>
        <p:spPr>
          <a:xfrm>
            <a:off x="1047902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7" name="Store dot 476"/>
          <p:cNvSpPr/>
          <p:nvPr/>
        </p:nvSpPr>
        <p:spPr>
          <a:xfrm>
            <a:off x="10652760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8" name="Store dot 477"/>
          <p:cNvSpPr/>
          <p:nvPr/>
        </p:nvSpPr>
        <p:spPr>
          <a:xfrm>
            <a:off x="10826496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9" name="Store dot 478"/>
          <p:cNvSpPr/>
          <p:nvPr/>
        </p:nvSpPr>
        <p:spPr>
          <a:xfrm>
            <a:off x="11000232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0" name="Store dot 479"/>
          <p:cNvSpPr/>
          <p:nvPr/>
        </p:nvSpPr>
        <p:spPr>
          <a:xfrm>
            <a:off x="11173968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1" name="Store dot 480"/>
          <p:cNvSpPr/>
          <p:nvPr/>
        </p:nvSpPr>
        <p:spPr>
          <a:xfrm>
            <a:off x="11347704" y="370332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2" name="Store dot 481"/>
          <p:cNvSpPr/>
          <p:nvPr/>
        </p:nvSpPr>
        <p:spPr>
          <a:xfrm>
            <a:off x="630936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3" name="Store dot 482"/>
          <p:cNvSpPr/>
          <p:nvPr/>
        </p:nvSpPr>
        <p:spPr>
          <a:xfrm>
            <a:off x="648309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4" name="Store dot 483"/>
          <p:cNvSpPr/>
          <p:nvPr/>
        </p:nvSpPr>
        <p:spPr>
          <a:xfrm>
            <a:off x="665683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5" name="Store dot 484"/>
          <p:cNvSpPr/>
          <p:nvPr/>
        </p:nvSpPr>
        <p:spPr>
          <a:xfrm>
            <a:off x="683056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6" name="Store dot 485"/>
          <p:cNvSpPr/>
          <p:nvPr/>
        </p:nvSpPr>
        <p:spPr>
          <a:xfrm>
            <a:off x="700430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7" name="Store dot 486"/>
          <p:cNvSpPr/>
          <p:nvPr/>
        </p:nvSpPr>
        <p:spPr>
          <a:xfrm>
            <a:off x="717804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8" name="Store dot 487"/>
          <p:cNvSpPr/>
          <p:nvPr/>
        </p:nvSpPr>
        <p:spPr>
          <a:xfrm>
            <a:off x="735177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9" name="Store dot 488"/>
          <p:cNvSpPr/>
          <p:nvPr/>
        </p:nvSpPr>
        <p:spPr>
          <a:xfrm>
            <a:off x="752551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0" name="Store dot 489"/>
          <p:cNvSpPr/>
          <p:nvPr/>
        </p:nvSpPr>
        <p:spPr>
          <a:xfrm>
            <a:off x="769924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1" name="Store dot 490"/>
          <p:cNvSpPr/>
          <p:nvPr/>
        </p:nvSpPr>
        <p:spPr>
          <a:xfrm>
            <a:off x="787298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2" name="Store dot 491"/>
          <p:cNvSpPr/>
          <p:nvPr/>
        </p:nvSpPr>
        <p:spPr>
          <a:xfrm>
            <a:off x="804672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3" name="Store dot 492"/>
          <p:cNvSpPr/>
          <p:nvPr/>
        </p:nvSpPr>
        <p:spPr>
          <a:xfrm>
            <a:off x="822045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4" name="Store dot 493"/>
          <p:cNvSpPr/>
          <p:nvPr/>
        </p:nvSpPr>
        <p:spPr>
          <a:xfrm>
            <a:off x="839419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5" name="Store dot 494"/>
          <p:cNvSpPr/>
          <p:nvPr/>
        </p:nvSpPr>
        <p:spPr>
          <a:xfrm>
            <a:off x="856792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6" name="Store dot 495"/>
          <p:cNvSpPr/>
          <p:nvPr/>
        </p:nvSpPr>
        <p:spPr>
          <a:xfrm>
            <a:off x="874166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7" name="Store dot 496"/>
          <p:cNvSpPr/>
          <p:nvPr/>
        </p:nvSpPr>
        <p:spPr>
          <a:xfrm>
            <a:off x="891540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8" name="Store dot 497"/>
          <p:cNvSpPr/>
          <p:nvPr/>
        </p:nvSpPr>
        <p:spPr>
          <a:xfrm>
            <a:off x="908913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9" name="Store dot 498"/>
          <p:cNvSpPr/>
          <p:nvPr/>
        </p:nvSpPr>
        <p:spPr>
          <a:xfrm>
            <a:off x="926287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" name="Store dot 499"/>
          <p:cNvSpPr/>
          <p:nvPr/>
        </p:nvSpPr>
        <p:spPr>
          <a:xfrm>
            <a:off x="943660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" name="Store dot 500"/>
          <p:cNvSpPr/>
          <p:nvPr/>
        </p:nvSpPr>
        <p:spPr>
          <a:xfrm>
            <a:off x="961034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" name="Store dot 501"/>
          <p:cNvSpPr/>
          <p:nvPr/>
        </p:nvSpPr>
        <p:spPr>
          <a:xfrm>
            <a:off x="978408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" name="Store dot 502"/>
          <p:cNvSpPr/>
          <p:nvPr/>
        </p:nvSpPr>
        <p:spPr>
          <a:xfrm>
            <a:off x="995781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" name="Store dot 503"/>
          <p:cNvSpPr/>
          <p:nvPr/>
        </p:nvSpPr>
        <p:spPr>
          <a:xfrm>
            <a:off x="1013155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" name="Store dot 504"/>
          <p:cNvSpPr/>
          <p:nvPr/>
        </p:nvSpPr>
        <p:spPr>
          <a:xfrm>
            <a:off x="1030528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" name="Store dot 505"/>
          <p:cNvSpPr/>
          <p:nvPr/>
        </p:nvSpPr>
        <p:spPr>
          <a:xfrm>
            <a:off x="1047902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" name="Store dot 506"/>
          <p:cNvSpPr/>
          <p:nvPr/>
        </p:nvSpPr>
        <p:spPr>
          <a:xfrm>
            <a:off x="10652760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" name="Store dot 507"/>
          <p:cNvSpPr/>
          <p:nvPr/>
        </p:nvSpPr>
        <p:spPr>
          <a:xfrm>
            <a:off x="10826496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" name="Store dot 508"/>
          <p:cNvSpPr/>
          <p:nvPr/>
        </p:nvSpPr>
        <p:spPr>
          <a:xfrm>
            <a:off x="11000232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0" name="Store dot 509"/>
          <p:cNvSpPr/>
          <p:nvPr/>
        </p:nvSpPr>
        <p:spPr>
          <a:xfrm>
            <a:off x="11173968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Store dot 510"/>
          <p:cNvSpPr/>
          <p:nvPr/>
        </p:nvSpPr>
        <p:spPr>
          <a:xfrm>
            <a:off x="11347704" y="387705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2" name="Store dot 511"/>
          <p:cNvSpPr/>
          <p:nvPr/>
        </p:nvSpPr>
        <p:spPr>
          <a:xfrm>
            <a:off x="630936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3" name="Store dot 512"/>
          <p:cNvSpPr/>
          <p:nvPr/>
        </p:nvSpPr>
        <p:spPr>
          <a:xfrm>
            <a:off x="648309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4" name="Store dot 513"/>
          <p:cNvSpPr/>
          <p:nvPr/>
        </p:nvSpPr>
        <p:spPr>
          <a:xfrm>
            <a:off x="665683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5" name="Store dot 514"/>
          <p:cNvSpPr/>
          <p:nvPr/>
        </p:nvSpPr>
        <p:spPr>
          <a:xfrm>
            <a:off x="683056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6" name="Store dot 515"/>
          <p:cNvSpPr/>
          <p:nvPr/>
        </p:nvSpPr>
        <p:spPr>
          <a:xfrm>
            <a:off x="700430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7" name="Store dot 516"/>
          <p:cNvSpPr/>
          <p:nvPr/>
        </p:nvSpPr>
        <p:spPr>
          <a:xfrm>
            <a:off x="717804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8" name="Store dot 517"/>
          <p:cNvSpPr/>
          <p:nvPr/>
        </p:nvSpPr>
        <p:spPr>
          <a:xfrm>
            <a:off x="735177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Store dot 518"/>
          <p:cNvSpPr/>
          <p:nvPr/>
        </p:nvSpPr>
        <p:spPr>
          <a:xfrm>
            <a:off x="752551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0" name="Store dot 519"/>
          <p:cNvSpPr/>
          <p:nvPr/>
        </p:nvSpPr>
        <p:spPr>
          <a:xfrm>
            <a:off x="769924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1" name="Store dot 520"/>
          <p:cNvSpPr/>
          <p:nvPr/>
        </p:nvSpPr>
        <p:spPr>
          <a:xfrm>
            <a:off x="787298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2" name="Store dot 521"/>
          <p:cNvSpPr/>
          <p:nvPr/>
        </p:nvSpPr>
        <p:spPr>
          <a:xfrm>
            <a:off x="804672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3" name="Store dot 522"/>
          <p:cNvSpPr/>
          <p:nvPr/>
        </p:nvSpPr>
        <p:spPr>
          <a:xfrm>
            <a:off x="822045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4" name="Store dot 523"/>
          <p:cNvSpPr/>
          <p:nvPr/>
        </p:nvSpPr>
        <p:spPr>
          <a:xfrm>
            <a:off x="839419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5" name="Store dot 524"/>
          <p:cNvSpPr/>
          <p:nvPr/>
        </p:nvSpPr>
        <p:spPr>
          <a:xfrm>
            <a:off x="856792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6" name="Store dot 525"/>
          <p:cNvSpPr/>
          <p:nvPr/>
        </p:nvSpPr>
        <p:spPr>
          <a:xfrm>
            <a:off x="874166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7" name="Store dot 526"/>
          <p:cNvSpPr/>
          <p:nvPr/>
        </p:nvSpPr>
        <p:spPr>
          <a:xfrm>
            <a:off x="891540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8" name="Store dot 527"/>
          <p:cNvSpPr/>
          <p:nvPr/>
        </p:nvSpPr>
        <p:spPr>
          <a:xfrm>
            <a:off x="908913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9" name="Store dot 528"/>
          <p:cNvSpPr/>
          <p:nvPr/>
        </p:nvSpPr>
        <p:spPr>
          <a:xfrm>
            <a:off x="926287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0" name="Store dot 529"/>
          <p:cNvSpPr/>
          <p:nvPr/>
        </p:nvSpPr>
        <p:spPr>
          <a:xfrm>
            <a:off x="943660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1" name="Store dot 530"/>
          <p:cNvSpPr/>
          <p:nvPr/>
        </p:nvSpPr>
        <p:spPr>
          <a:xfrm>
            <a:off x="961034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2" name="Store dot 531"/>
          <p:cNvSpPr/>
          <p:nvPr/>
        </p:nvSpPr>
        <p:spPr>
          <a:xfrm>
            <a:off x="978408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3" name="Store dot 532"/>
          <p:cNvSpPr/>
          <p:nvPr/>
        </p:nvSpPr>
        <p:spPr>
          <a:xfrm>
            <a:off x="995781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4" name="Store dot 533"/>
          <p:cNvSpPr/>
          <p:nvPr/>
        </p:nvSpPr>
        <p:spPr>
          <a:xfrm>
            <a:off x="1013155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5" name="Store dot 534"/>
          <p:cNvSpPr/>
          <p:nvPr/>
        </p:nvSpPr>
        <p:spPr>
          <a:xfrm>
            <a:off x="1030528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6" name="Store dot 535"/>
          <p:cNvSpPr/>
          <p:nvPr/>
        </p:nvSpPr>
        <p:spPr>
          <a:xfrm>
            <a:off x="1047902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7" name="Store dot 536"/>
          <p:cNvSpPr/>
          <p:nvPr/>
        </p:nvSpPr>
        <p:spPr>
          <a:xfrm>
            <a:off x="10652760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8" name="Store dot 537"/>
          <p:cNvSpPr/>
          <p:nvPr/>
        </p:nvSpPr>
        <p:spPr>
          <a:xfrm>
            <a:off x="10826496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9" name="Store dot 538"/>
          <p:cNvSpPr/>
          <p:nvPr/>
        </p:nvSpPr>
        <p:spPr>
          <a:xfrm>
            <a:off x="11000232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0" name="Store dot 539"/>
          <p:cNvSpPr/>
          <p:nvPr/>
        </p:nvSpPr>
        <p:spPr>
          <a:xfrm>
            <a:off x="11173968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1" name="Store dot 540"/>
          <p:cNvSpPr/>
          <p:nvPr/>
        </p:nvSpPr>
        <p:spPr>
          <a:xfrm>
            <a:off x="11347704" y="405079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2" name="Store dot 541"/>
          <p:cNvSpPr/>
          <p:nvPr/>
        </p:nvSpPr>
        <p:spPr>
          <a:xfrm>
            <a:off x="630936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Store dot 542"/>
          <p:cNvSpPr/>
          <p:nvPr/>
        </p:nvSpPr>
        <p:spPr>
          <a:xfrm>
            <a:off x="648309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4" name="Store dot 543"/>
          <p:cNvSpPr/>
          <p:nvPr/>
        </p:nvSpPr>
        <p:spPr>
          <a:xfrm>
            <a:off x="665683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5" name="Store dot 544"/>
          <p:cNvSpPr/>
          <p:nvPr/>
        </p:nvSpPr>
        <p:spPr>
          <a:xfrm>
            <a:off x="683056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6" name="Store dot 545"/>
          <p:cNvSpPr/>
          <p:nvPr/>
        </p:nvSpPr>
        <p:spPr>
          <a:xfrm>
            <a:off x="700430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7" name="Store dot 546"/>
          <p:cNvSpPr/>
          <p:nvPr/>
        </p:nvSpPr>
        <p:spPr>
          <a:xfrm>
            <a:off x="717804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8" name="Store dot 547"/>
          <p:cNvSpPr/>
          <p:nvPr/>
        </p:nvSpPr>
        <p:spPr>
          <a:xfrm>
            <a:off x="735177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Store dot 548"/>
          <p:cNvSpPr/>
          <p:nvPr/>
        </p:nvSpPr>
        <p:spPr>
          <a:xfrm>
            <a:off x="752551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0" name="Store dot 549"/>
          <p:cNvSpPr/>
          <p:nvPr/>
        </p:nvSpPr>
        <p:spPr>
          <a:xfrm>
            <a:off x="769924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1" name="Store dot 550"/>
          <p:cNvSpPr/>
          <p:nvPr/>
        </p:nvSpPr>
        <p:spPr>
          <a:xfrm>
            <a:off x="787298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2" name="Store dot 551"/>
          <p:cNvSpPr/>
          <p:nvPr/>
        </p:nvSpPr>
        <p:spPr>
          <a:xfrm>
            <a:off x="804672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3" name="Store dot 552"/>
          <p:cNvSpPr/>
          <p:nvPr/>
        </p:nvSpPr>
        <p:spPr>
          <a:xfrm>
            <a:off x="822045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4" name="Store dot 553"/>
          <p:cNvSpPr/>
          <p:nvPr/>
        </p:nvSpPr>
        <p:spPr>
          <a:xfrm>
            <a:off x="839419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5" name="Store dot 554"/>
          <p:cNvSpPr/>
          <p:nvPr/>
        </p:nvSpPr>
        <p:spPr>
          <a:xfrm>
            <a:off x="856792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6" name="Store dot 555"/>
          <p:cNvSpPr/>
          <p:nvPr/>
        </p:nvSpPr>
        <p:spPr>
          <a:xfrm>
            <a:off x="874166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7" name="Store dot 556"/>
          <p:cNvSpPr/>
          <p:nvPr/>
        </p:nvSpPr>
        <p:spPr>
          <a:xfrm>
            <a:off x="891540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8" name="Store dot 557"/>
          <p:cNvSpPr/>
          <p:nvPr/>
        </p:nvSpPr>
        <p:spPr>
          <a:xfrm>
            <a:off x="908913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9" name="Store dot 558"/>
          <p:cNvSpPr/>
          <p:nvPr/>
        </p:nvSpPr>
        <p:spPr>
          <a:xfrm>
            <a:off x="926287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0" name="Store dot 559"/>
          <p:cNvSpPr/>
          <p:nvPr/>
        </p:nvSpPr>
        <p:spPr>
          <a:xfrm>
            <a:off x="943660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1" name="Store dot 560"/>
          <p:cNvSpPr/>
          <p:nvPr/>
        </p:nvSpPr>
        <p:spPr>
          <a:xfrm>
            <a:off x="961034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2" name="Store dot 561"/>
          <p:cNvSpPr/>
          <p:nvPr/>
        </p:nvSpPr>
        <p:spPr>
          <a:xfrm>
            <a:off x="978408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3" name="Store dot 562"/>
          <p:cNvSpPr/>
          <p:nvPr/>
        </p:nvSpPr>
        <p:spPr>
          <a:xfrm>
            <a:off x="995781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4" name="Store dot 563"/>
          <p:cNvSpPr/>
          <p:nvPr/>
        </p:nvSpPr>
        <p:spPr>
          <a:xfrm>
            <a:off x="1013155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5" name="Store dot 564"/>
          <p:cNvSpPr/>
          <p:nvPr/>
        </p:nvSpPr>
        <p:spPr>
          <a:xfrm>
            <a:off x="1030528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6" name="Store dot 565"/>
          <p:cNvSpPr/>
          <p:nvPr/>
        </p:nvSpPr>
        <p:spPr>
          <a:xfrm>
            <a:off x="1047902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7" name="Store dot 566"/>
          <p:cNvSpPr/>
          <p:nvPr/>
        </p:nvSpPr>
        <p:spPr>
          <a:xfrm>
            <a:off x="10652760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8" name="Store dot 567"/>
          <p:cNvSpPr/>
          <p:nvPr/>
        </p:nvSpPr>
        <p:spPr>
          <a:xfrm>
            <a:off x="10826496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9" name="Store dot 568"/>
          <p:cNvSpPr/>
          <p:nvPr/>
        </p:nvSpPr>
        <p:spPr>
          <a:xfrm>
            <a:off x="11000232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0" name="Store dot 569"/>
          <p:cNvSpPr/>
          <p:nvPr/>
        </p:nvSpPr>
        <p:spPr>
          <a:xfrm>
            <a:off x="11173968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1" name="Store dot 570"/>
          <p:cNvSpPr/>
          <p:nvPr/>
        </p:nvSpPr>
        <p:spPr>
          <a:xfrm>
            <a:off x="11347704" y="422452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2" name="Store dot 571"/>
          <p:cNvSpPr/>
          <p:nvPr/>
        </p:nvSpPr>
        <p:spPr>
          <a:xfrm>
            <a:off x="630936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3" name="Store dot 572"/>
          <p:cNvSpPr/>
          <p:nvPr/>
        </p:nvSpPr>
        <p:spPr>
          <a:xfrm>
            <a:off x="648309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4" name="Store dot 573"/>
          <p:cNvSpPr/>
          <p:nvPr/>
        </p:nvSpPr>
        <p:spPr>
          <a:xfrm>
            <a:off x="665683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5" name="Store dot 574"/>
          <p:cNvSpPr/>
          <p:nvPr/>
        </p:nvSpPr>
        <p:spPr>
          <a:xfrm>
            <a:off x="683056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6" name="Store dot 575"/>
          <p:cNvSpPr/>
          <p:nvPr/>
        </p:nvSpPr>
        <p:spPr>
          <a:xfrm>
            <a:off x="700430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7" name="Store dot 576"/>
          <p:cNvSpPr/>
          <p:nvPr/>
        </p:nvSpPr>
        <p:spPr>
          <a:xfrm>
            <a:off x="717804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8" name="Store dot 577"/>
          <p:cNvSpPr/>
          <p:nvPr/>
        </p:nvSpPr>
        <p:spPr>
          <a:xfrm>
            <a:off x="735177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9" name="Store dot 578"/>
          <p:cNvSpPr/>
          <p:nvPr/>
        </p:nvSpPr>
        <p:spPr>
          <a:xfrm>
            <a:off x="752551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0" name="Store dot 579"/>
          <p:cNvSpPr/>
          <p:nvPr/>
        </p:nvSpPr>
        <p:spPr>
          <a:xfrm>
            <a:off x="769924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1" name="Store dot 580"/>
          <p:cNvSpPr/>
          <p:nvPr/>
        </p:nvSpPr>
        <p:spPr>
          <a:xfrm>
            <a:off x="787298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2" name="Store dot 581"/>
          <p:cNvSpPr/>
          <p:nvPr/>
        </p:nvSpPr>
        <p:spPr>
          <a:xfrm>
            <a:off x="804672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3" name="Store dot 582"/>
          <p:cNvSpPr/>
          <p:nvPr/>
        </p:nvSpPr>
        <p:spPr>
          <a:xfrm>
            <a:off x="822045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4" name="Store dot 583"/>
          <p:cNvSpPr/>
          <p:nvPr/>
        </p:nvSpPr>
        <p:spPr>
          <a:xfrm>
            <a:off x="839419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5" name="Store dot 584"/>
          <p:cNvSpPr/>
          <p:nvPr/>
        </p:nvSpPr>
        <p:spPr>
          <a:xfrm>
            <a:off x="856792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6" name="Store dot 585"/>
          <p:cNvSpPr/>
          <p:nvPr/>
        </p:nvSpPr>
        <p:spPr>
          <a:xfrm>
            <a:off x="874166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7" name="Store dot 586"/>
          <p:cNvSpPr/>
          <p:nvPr/>
        </p:nvSpPr>
        <p:spPr>
          <a:xfrm>
            <a:off x="891540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8" name="Store dot 587"/>
          <p:cNvSpPr/>
          <p:nvPr/>
        </p:nvSpPr>
        <p:spPr>
          <a:xfrm>
            <a:off x="908913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9" name="Store dot 588"/>
          <p:cNvSpPr/>
          <p:nvPr/>
        </p:nvSpPr>
        <p:spPr>
          <a:xfrm>
            <a:off x="926287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0" name="Store dot 589"/>
          <p:cNvSpPr/>
          <p:nvPr/>
        </p:nvSpPr>
        <p:spPr>
          <a:xfrm>
            <a:off x="943660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1" name="Store dot 590"/>
          <p:cNvSpPr/>
          <p:nvPr/>
        </p:nvSpPr>
        <p:spPr>
          <a:xfrm>
            <a:off x="961034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2" name="Store dot 591"/>
          <p:cNvSpPr/>
          <p:nvPr/>
        </p:nvSpPr>
        <p:spPr>
          <a:xfrm>
            <a:off x="978408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3" name="Store dot 592"/>
          <p:cNvSpPr/>
          <p:nvPr/>
        </p:nvSpPr>
        <p:spPr>
          <a:xfrm>
            <a:off x="995781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4" name="Store dot 593"/>
          <p:cNvSpPr/>
          <p:nvPr/>
        </p:nvSpPr>
        <p:spPr>
          <a:xfrm>
            <a:off x="1013155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5" name="Store dot 594"/>
          <p:cNvSpPr/>
          <p:nvPr/>
        </p:nvSpPr>
        <p:spPr>
          <a:xfrm>
            <a:off x="1030528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6" name="Store dot 595"/>
          <p:cNvSpPr/>
          <p:nvPr/>
        </p:nvSpPr>
        <p:spPr>
          <a:xfrm>
            <a:off x="1047902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7" name="Store dot 596"/>
          <p:cNvSpPr/>
          <p:nvPr/>
        </p:nvSpPr>
        <p:spPr>
          <a:xfrm>
            <a:off x="10652760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8" name="Store dot 597"/>
          <p:cNvSpPr/>
          <p:nvPr/>
        </p:nvSpPr>
        <p:spPr>
          <a:xfrm>
            <a:off x="10826496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9" name="Store dot 598"/>
          <p:cNvSpPr/>
          <p:nvPr/>
        </p:nvSpPr>
        <p:spPr>
          <a:xfrm>
            <a:off x="11000232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0" name="Store dot 599"/>
          <p:cNvSpPr/>
          <p:nvPr/>
        </p:nvSpPr>
        <p:spPr>
          <a:xfrm>
            <a:off x="11173968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1" name="Store dot 600"/>
          <p:cNvSpPr/>
          <p:nvPr/>
        </p:nvSpPr>
        <p:spPr>
          <a:xfrm>
            <a:off x="11347704" y="439826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2" name="Store dot 601"/>
          <p:cNvSpPr/>
          <p:nvPr/>
        </p:nvSpPr>
        <p:spPr>
          <a:xfrm>
            <a:off x="630936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3" name="Store dot 602"/>
          <p:cNvSpPr/>
          <p:nvPr/>
        </p:nvSpPr>
        <p:spPr>
          <a:xfrm>
            <a:off x="648309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4" name="Store dot 603"/>
          <p:cNvSpPr/>
          <p:nvPr/>
        </p:nvSpPr>
        <p:spPr>
          <a:xfrm>
            <a:off x="665683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5" name="Store dot 604"/>
          <p:cNvSpPr/>
          <p:nvPr/>
        </p:nvSpPr>
        <p:spPr>
          <a:xfrm>
            <a:off x="683056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6" name="Store dot 605"/>
          <p:cNvSpPr/>
          <p:nvPr/>
        </p:nvSpPr>
        <p:spPr>
          <a:xfrm>
            <a:off x="700430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7" name="Store dot 606"/>
          <p:cNvSpPr/>
          <p:nvPr/>
        </p:nvSpPr>
        <p:spPr>
          <a:xfrm>
            <a:off x="717804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8" name="Store dot 607"/>
          <p:cNvSpPr/>
          <p:nvPr/>
        </p:nvSpPr>
        <p:spPr>
          <a:xfrm>
            <a:off x="735177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9" name="Store dot 608"/>
          <p:cNvSpPr/>
          <p:nvPr/>
        </p:nvSpPr>
        <p:spPr>
          <a:xfrm>
            <a:off x="752551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0" name="Store dot 609"/>
          <p:cNvSpPr/>
          <p:nvPr/>
        </p:nvSpPr>
        <p:spPr>
          <a:xfrm>
            <a:off x="769924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1" name="Store dot 610"/>
          <p:cNvSpPr/>
          <p:nvPr/>
        </p:nvSpPr>
        <p:spPr>
          <a:xfrm>
            <a:off x="787298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2" name="Store dot 611"/>
          <p:cNvSpPr/>
          <p:nvPr/>
        </p:nvSpPr>
        <p:spPr>
          <a:xfrm>
            <a:off x="804672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3" name="Store dot 612"/>
          <p:cNvSpPr/>
          <p:nvPr/>
        </p:nvSpPr>
        <p:spPr>
          <a:xfrm>
            <a:off x="822045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4" name="Store dot 613"/>
          <p:cNvSpPr/>
          <p:nvPr/>
        </p:nvSpPr>
        <p:spPr>
          <a:xfrm>
            <a:off x="839419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5" name="Store dot 614"/>
          <p:cNvSpPr/>
          <p:nvPr/>
        </p:nvSpPr>
        <p:spPr>
          <a:xfrm>
            <a:off x="856792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6" name="Store dot 615"/>
          <p:cNvSpPr/>
          <p:nvPr/>
        </p:nvSpPr>
        <p:spPr>
          <a:xfrm>
            <a:off x="874166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7" name="Store dot 616"/>
          <p:cNvSpPr/>
          <p:nvPr/>
        </p:nvSpPr>
        <p:spPr>
          <a:xfrm>
            <a:off x="891540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8" name="Store dot 617"/>
          <p:cNvSpPr/>
          <p:nvPr/>
        </p:nvSpPr>
        <p:spPr>
          <a:xfrm>
            <a:off x="908913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9" name="Store dot 618"/>
          <p:cNvSpPr/>
          <p:nvPr/>
        </p:nvSpPr>
        <p:spPr>
          <a:xfrm>
            <a:off x="926287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0" name="Store dot 619"/>
          <p:cNvSpPr/>
          <p:nvPr/>
        </p:nvSpPr>
        <p:spPr>
          <a:xfrm>
            <a:off x="943660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1" name="Store dot 620"/>
          <p:cNvSpPr/>
          <p:nvPr/>
        </p:nvSpPr>
        <p:spPr>
          <a:xfrm>
            <a:off x="961034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2" name="Store dot 621"/>
          <p:cNvSpPr/>
          <p:nvPr/>
        </p:nvSpPr>
        <p:spPr>
          <a:xfrm>
            <a:off x="978408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3" name="Store dot 622"/>
          <p:cNvSpPr/>
          <p:nvPr/>
        </p:nvSpPr>
        <p:spPr>
          <a:xfrm>
            <a:off x="995781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4" name="Store dot 623"/>
          <p:cNvSpPr/>
          <p:nvPr/>
        </p:nvSpPr>
        <p:spPr>
          <a:xfrm>
            <a:off x="1013155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5" name="Store dot 624"/>
          <p:cNvSpPr/>
          <p:nvPr/>
        </p:nvSpPr>
        <p:spPr>
          <a:xfrm>
            <a:off x="1030528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6" name="Store dot 625"/>
          <p:cNvSpPr/>
          <p:nvPr/>
        </p:nvSpPr>
        <p:spPr>
          <a:xfrm>
            <a:off x="1047902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7" name="Store dot 626"/>
          <p:cNvSpPr/>
          <p:nvPr/>
        </p:nvSpPr>
        <p:spPr>
          <a:xfrm>
            <a:off x="10652760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8" name="Store dot 627"/>
          <p:cNvSpPr/>
          <p:nvPr/>
        </p:nvSpPr>
        <p:spPr>
          <a:xfrm>
            <a:off x="10826496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9" name="Store dot 628"/>
          <p:cNvSpPr/>
          <p:nvPr/>
        </p:nvSpPr>
        <p:spPr>
          <a:xfrm>
            <a:off x="11000232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0" name="Store dot 629"/>
          <p:cNvSpPr/>
          <p:nvPr/>
        </p:nvSpPr>
        <p:spPr>
          <a:xfrm>
            <a:off x="11173968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1" name="Store dot 630"/>
          <p:cNvSpPr/>
          <p:nvPr/>
        </p:nvSpPr>
        <p:spPr>
          <a:xfrm>
            <a:off x="11347704" y="457200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2" name="Store dot 631"/>
          <p:cNvSpPr/>
          <p:nvPr/>
        </p:nvSpPr>
        <p:spPr>
          <a:xfrm>
            <a:off x="630936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3" name="Store dot 632"/>
          <p:cNvSpPr/>
          <p:nvPr/>
        </p:nvSpPr>
        <p:spPr>
          <a:xfrm>
            <a:off x="648309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4" name="Store dot 633"/>
          <p:cNvSpPr/>
          <p:nvPr/>
        </p:nvSpPr>
        <p:spPr>
          <a:xfrm>
            <a:off x="665683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5" name="Store dot 634"/>
          <p:cNvSpPr/>
          <p:nvPr/>
        </p:nvSpPr>
        <p:spPr>
          <a:xfrm>
            <a:off x="683056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6" name="Store dot 635"/>
          <p:cNvSpPr/>
          <p:nvPr/>
        </p:nvSpPr>
        <p:spPr>
          <a:xfrm>
            <a:off x="700430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7" name="Store dot 636"/>
          <p:cNvSpPr/>
          <p:nvPr/>
        </p:nvSpPr>
        <p:spPr>
          <a:xfrm>
            <a:off x="717804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8" name="Store dot 637"/>
          <p:cNvSpPr/>
          <p:nvPr/>
        </p:nvSpPr>
        <p:spPr>
          <a:xfrm>
            <a:off x="735177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9" name="Store dot 638"/>
          <p:cNvSpPr/>
          <p:nvPr/>
        </p:nvSpPr>
        <p:spPr>
          <a:xfrm>
            <a:off x="752551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0" name="Store dot 639"/>
          <p:cNvSpPr/>
          <p:nvPr/>
        </p:nvSpPr>
        <p:spPr>
          <a:xfrm>
            <a:off x="769924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1" name="Store dot 640"/>
          <p:cNvSpPr/>
          <p:nvPr/>
        </p:nvSpPr>
        <p:spPr>
          <a:xfrm>
            <a:off x="787298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2" name="Store dot 641"/>
          <p:cNvSpPr/>
          <p:nvPr/>
        </p:nvSpPr>
        <p:spPr>
          <a:xfrm>
            <a:off x="804672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3" name="Store dot 642"/>
          <p:cNvSpPr/>
          <p:nvPr/>
        </p:nvSpPr>
        <p:spPr>
          <a:xfrm>
            <a:off x="822045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4" name="Store dot 643"/>
          <p:cNvSpPr/>
          <p:nvPr/>
        </p:nvSpPr>
        <p:spPr>
          <a:xfrm>
            <a:off x="839419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5" name="Store dot 644"/>
          <p:cNvSpPr/>
          <p:nvPr/>
        </p:nvSpPr>
        <p:spPr>
          <a:xfrm>
            <a:off x="856792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6" name="Store dot 645"/>
          <p:cNvSpPr/>
          <p:nvPr/>
        </p:nvSpPr>
        <p:spPr>
          <a:xfrm>
            <a:off x="874166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7" name="Store dot 646"/>
          <p:cNvSpPr/>
          <p:nvPr/>
        </p:nvSpPr>
        <p:spPr>
          <a:xfrm>
            <a:off x="891540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8" name="Store dot 647"/>
          <p:cNvSpPr/>
          <p:nvPr/>
        </p:nvSpPr>
        <p:spPr>
          <a:xfrm>
            <a:off x="908913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9" name="Store dot 648"/>
          <p:cNvSpPr/>
          <p:nvPr/>
        </p:nvSpPr>
        <p:spPr>
          <a:xfrm>
            <a:off x="926287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0" name="Store dot 649"/>
          <p:cNvSpPr/>
          <p:nvPr/>
        </p:nvSpPr>
        <p:spPr>
          <a:xfrm>
            <a:off x="943660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1" name="Store dot 650"/>
          <p:cNvSpPr/>
          <p:nvPr/>
        </p:nvSpPr>
        <p:spPr>
          <a:xfrm>
            <a:off x="961034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2" name="Store dot 651"/>
          <p:cNvSpPr/>
          <p:nvPr/>
        </p:nvSpPr>
        <p:spPr>
          <a:xfrm>
            <a:off x="978408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3" name="Store dot 652"/>
          <p:cNvSpPr/>
          <p:nvPr/>
        </p:nvSpPr>
        <p:spPr>
          <a:xfrm>
            <a:off x="995781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4" name="Store dot 653"/>
          <p:cNvSpPr/>
          <p:nvPr/>
        </p:nvSpPr>
        <p:spPr>
          <a:xfrm>
            <a:off x="1013155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5" name="Store dot 654"/>
          <p:cNvSpPr/>
          <p:nvPr/>
        </p:nvSpPr>
        <p:spPr>
          <a:xfrm>
            <a:off x="1030528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6" name="Store dot 655"/>
          <p:cNvSpPr/>
          <p:nvPr/>
        </p:nvSpPr>
        <p:spPr>
          <a:xfrm>
            <a:off x="1047902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7" name="Store dot 656"/>
          <p:cNvSpPr/>
          <p:nvPr/>
        </p:nvSpPr>
        <p:spPr>
          <a:xfrm>
            <a:off x="10652760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8" name="Store dot 657"/>
          <p:cNvSpPr/>
          <p:nvPr/>
        </p:nvSpPr>
        <p:spPr>
          <a:xfrm>
            <a:off x="10826496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9" name="Store dot 658"/>
          <p:cNvSpPr/>
          <p:nvPr/>
        </p:nvSpPr>
        <p:spPr>
          <a:xfrm>
            <a:off x="11000232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0" name="Store dot 659"/>
          <p:cNvSpPr/>
          <p:nvPr/>
        </p:nvSpPr>
        <p:spPr>
          <a:xfrm>
            <a:off x="11173968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1" name="Store dot 660"/>
          <p:cNvSpPr/>
          <p:nvPr/>
        </p:nvSpPr>
        <p:spPr>
          <a:xfrm>
            <a:off x="11347704" y="4745736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2" name="Store dot 661"/>
          <p:cNvSpPr/>
          <p:nvPr/>
        </p:nvSpPr>
        <p:spPr>
          <a:xfrm>
            <a:off x="630936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3" name="Store dot 662"/>
          <p:cNvSpPr/>
          <p:nvPr/>
        </p:nvSpPr>
        <p:spPr>
          <a:xfrm>
            <a:off x="648309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4" name="Store dot 663"/>
          <p:cNvSpPr/>
          <p:nvPr/>
        </p:nvSpPr>
        <p:spPr>
          <a:xfrm>
            <a:off x="665683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5" name="Store dot 664"/>
          <p:cNvSpPr/>
          <p:nvPr/>
        </p:nvSpPr>
        <p:spPr>
          <a:xfrm>
            <a:off x="683056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6" name="Store dot 665"/>
          <p:cNvSpPr/>
          <p:nvPr/>
        </p:nvSpPr>
        <p:spPr>
          <a:xfrm>
            <a:off x="700430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7" name="Store dot 666"/>
          <p:cNvSpPr/>
          <p:nvPr/>
        </p:nvSpPr>
        <p:spPr>
          <a:xfrm>
            <a:off x="717804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8" name="Store dot 667"/>
          <p:cNvSpPr/>
          <p:nvPr/>
        </p:nvSpPr>
        <p:spPr>
          <a:xfrm>
            <a:off x="735177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9" name="Store dot 668"/>
          <p:cNvSpPr/>
          <p:nvPr/>
        </p:nvSpPr>
        <p:spPr>
          <a:xfrm>
            <a:off x="752551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0" name="Store dot 669"/>
          <p:cNvSpPr/>
          <p:nvPr/>
        </p:nvSpPr>
        <p:spPr>
          <a:xfrm>
            <a:off x="769924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1" name="Store dot 670"/>
          <p:cNvSpPr/>
          <p:nvPr/>
        </p:nvSpPr>
        <p:spPr>
          <a:xfrm>
            <a:off x="787298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2" name="Store dot 671"/>
          <p:cNvSpPr/>
          <p:nvPr/>
        </p:nvSpPr>
        <p:spPr>
          <a:xfrm>
            <a:off x="804672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3" name="Store dot 672"/>
          <p:cNvSpPr/>
          <p:nvPr/>
        </p:nvSpPr>
        <p:spPr>
          <a:xfrm>
            <a:off x="822045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4" name="Store dot 673"/>
          <p:cNvSpPr/>
          <p:nvPr/>
        </p:nvSpPr>
        <p:spPr>
          <a:xfrm>
            <a:off x="839419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5" name="Store dot 674"/>
          <p:cNvSpPr/>
          <p:nvPr/>
        </p:nvSpPr>
        <p:spPr>
          <a:xfrm>
            <a:off x="856792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6" name="Store dot 675"/>
          <p:cNvSpPr/>
          <p:nvPr/>
        </p:nvSpPr>
        <p:spPr>
          <a:xfrm>
            <a:off x="874166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7" name="Store dot 676"/>
          <p:cNvSpPr/>
          <p:nvPr/>
        </p:nvSpPr>
        <p:spPr>
          <a:xfrm>
            <a:off x="891540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8" name="Store dot 677"/>
          <p:cNvSpPr/>
          <p:nvPr/>
        </p:nvSpPr>
        <p:spPr>
          <a:xfrm>
            <a:off x="908913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9" name="Store dot 678"/>
          <p:cNvSpPr/>
          <p:nvPr/>
        </p:nvSpPr>
        <p:spPr>
          <a:xfrm>
            <a:off x="926287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0" name="Store dot 679"/>
          <p:cNvSpPr/>
          <p:nvPr/>
        </p:nvSpPr>
        <p:spPr>
          <a:xfrm>
            <a:off x="943660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1" name="Store dot 680"/>
          <p:cNvSpPr/>
          <p:nvPr/>
        </p:nvSpPr>
        <p:spPr>
          <a:xfrm>
            <a:off x="961034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2" name="Store dot 681"/>
          <p:cNvSpPr/>
          <p:nvPr/>
        </p:nvSpPr>
        <p:spPr>
          <a:xfrm>
            <a:off x="978408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3" name="Store dot 682"/>
          <p:cNvSpPr/>
          <p:nvPr/>
        </p:nvSpPr>
        <p:spPr>
          <a:xfrm>
            <a:off x="995781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4" name="Store dot 683"/>
          <p:cNvSpPr/>
          <p:nvPr/>
        </p:nvSpPr>
        <p:spPr>
          <a:xfrm>
            <a:off x="1013155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5" name="Store dot 684"/>
          <p:cNvSpPr/>
          <p:nvPr/>
        </p:nvSpPr>
        <p:spPr>
          <a:xfrm>
            <a:off x="1030528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6" name="Store dot 685"/>
          <p:cNvSpPr/>
          <p:nvPr/>
        </p:nvSpPr>
        <p:spPr>
          <a:xfrm>
            <a:off x="1047902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7" name="Store dot 686"/>
          <p:cNvSpPr/>
          <p:nvPr/>
        </p:nvSpPr>
        <p:spPr>
          <a:xfrm>
            <a:off x="10652760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8" name="Store dot 687"/>
          <p:cNvSpPr/>
          <p:nvPr/>
        </p:nvSpPr>
        <p:spPr>
          <a:xfrm>
            <a:off x="10826496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9" name="Store dot 688"/>
          <p:cNvSpPr/>
          <p:nvPr/>
        </p:nvSpPr>
        <p:spPr>
          <a:xfrm>
            <a:off x="11000232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0" name="Store dot 689"/>
          <p:cNvSpPr/>
          <p:nvPr/>
        </p:nvSpPr>
        <p:spPr>
          <a:xfrm>
            <a:off x="11173968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1" name="Store dot 690"/>
          <p:cNvSpPr/>
          <p:nvPr/>
        </p:nvSpPr>
        <p:spPr>
          <a:xfrm>
            <a:off x="11347704" y="4919472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2" name="Store dot 691"/>
          <p:cNvSpPr/>
          <p:nvPr/>
        </p:nvSpPr>
        <p:spPr>
          <a:xfrm>
            <a:off x="630936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3" name="Store dot 692"/>
          <p:cNvSpPr/>
          <p:nvPr/>
        </p:nvSpPr>
        <p:spPr>
          <a:xfrm>
            <a:off x="648309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4" name="Store dot 693"/>
          <p:cNvSpPr/>
          <p:nvPr/>
        </p:nvSpPr>
        <p:spPr>
          <a:xfrm>
            <a:off x="665683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5" name="Store dot 694"/>
          <p:cNvSpPr/>
          <p:nvPr/>
        </p:nvSpPr>
        <p:spPr>
          <a:xfrm>
            <a:off x="683056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6" name="Store dot 695"/>
          <p:cNvSpPr/>
          <p:nvPr/>
        </p:nvSpPr>
        <p:spPr>
          <a:xfrm>
            <a:off x="700430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7" name="Store dot 696"/>
          <p:cNvSpPr/>
          <p:nvPr/>
        </p:nvSpPr>
        <p:spPr>
          <a:xfrm>
            <a:off x="717804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8" name="Store dot 697"/>
          <p:cNvSpPr/>
          <p:nvPr/>
        </p:nvSpPr>
        <p:spPr>
          <a:xfrm>
            <a:off x="735177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9" name="Store dot 698"/>
          <p:cNvSpPr/>
          <p:nvPr/>
        </p:nvSpPr>
        <p:spPr>
          <a:xfrm>
            <a:off x="752551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0" name="Store dot 699"/>
          <p:cNvSpPr/>
          <p:nvPr/>
        </p:nvSpPr>
        <p:spPr>
          <a:xfrm>
            <a:off x="769924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1" name="Store dot 700"/>
          <p:cNvSpPr/>
          <p:nvPr/>
        </p:nvSpPr>
        <p:spPr>
          <a:xfrm>
            <a:off x="787298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2" name="Store dot 701"/>
          <p:cNvSpPr/>
          <p:nvPr/>
        </p:nvSpPr>
        <p:spPr>
          <a:xfrm>
            <a:off x="804672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3" name="Store dot 702"/>
          <p:cNvSpPr/>
          <p:nvPr/>
        </p:nvSpPr>
        <p:spPr>
          <a:xfrm>
            <a:off x="822045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4" name="Store dot 703"/>
          <p:cNvSpPr/>
          <p:nvPr/>
        </p:nvSpPr>
        <p:spPr>
          <a:xfrm>
            <a:off x="839419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5" name="Store dot 704"/>
          <p:cNvSpPr/>
          <p:nvPr/>
        </p:nvSpPr>
        <p:spPr>
          <a:xfrm>
            <a:off x="856792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6" name="Store dot 705"/>
          <p:cNvSpPr/>
          <p:nvPr/>
        </p:nvSpPr>
        <p:spPr>
          <a:xfrm>
            <a:off x="874166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7" name="Store dot 706"/>
          <p:cNvSpPr/>
          <p:nvPr/>
        </p:nvSpPr>
        <p:spPr>
          <a:xfrm>
            <a:off x="891540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8" name="Store dot 707"/>
          <p:cNvSpPr/>
          <p:nvPr/>
        </p:nvSpPr>
        <p:spPr>
          <a:xfrm>
            <a:off x="908913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9" name="Store dot 708"/>
          <p:cNvSpPr/>
          <p:nvPr/>
        </p:nvSpPr>
        <p:spPr>
          <a:xfrm>
            <a:off x="926287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0" name="Store dot 709"/>
          <p:cNvSpPr/>
          <p:nvPr/>
        </p:nvSpPr>
        <p:spPr>
          <a:xfrm>
            <a:off x="943660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1" name="Store dot 710"/>
          <p:cNvSpPr/>
          <p:nvPr/>
        </p:nvSpPr>
        <p:spPr>
          <a:xfrm>
            <a:off x="961034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2" name="Store dot 711"/>
          <p:cNvSpPr/>
          <p:nvPr/>
        </p:nvSpPr>
        <p:spPr>
          <a:xfrm>
            <a:off x="978408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3" name="Store dot 712"/>
          <p:cNvSpPr/>
          <p:nvPr/>
        </p:nvSpPr>
        <p:spPr>
          <a:xfrm>
            <a:off x="995781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4" name="Store dot 713"/>
          <p:cNvSpPr/>
          <p:nvPr/>
        </p:nvSpPr>
        <p:spPr>
          <a:xfrm>
            <a:off x="1013155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5" name="Store dot 714"/>
          <p:cNvSpPr/>
          <p:nvPr/>
        </p:nvSpPr>
        <p:spPr>
          <a:xfrm>
            <a:off x="1030528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6" name="Store dot 715"/>
          <p:cNvSpPr/>
          <p:nvPr/>
        </p:nvSpPr>
        <p:spPr>
          <a:xfrm>
            <a:off x="1047902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7" name="Store dot 716"/>
          <p:cNvSpPr/>
          <p:nvPr/>
        </p:nvSpPr>
        <p:spPr>
          <a:xfrm>
            <a:off x="10652760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8" name="Store dot 717"/>
          <p:cNvSpPr/>
          <p:nvPr/>
        </p:nvSpPr>
        <p:spPr>
          <a:xfrm>
            <a:off x="10826496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9" name="Store dot 718"/>
          <p:cNvSpPr/>
          <p:nvPr/>
        </p:nvSpPr>
        <p:spPr>
          <a:xfrm>
            <a:off x="11000232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0" name="Store dot 719"/>
          <p:cNvSpPr/>
          <p:nvPr/>
        </p:nvSpPr>
        <p:spPr>
          <a:xfrm>
            <a:off x="11173968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1" name="Store dot 720"/>
          <p:cNvSpPr/>
          <p:nvPr/>
        </p:nvSpPr>
        <p:spPr>
          <a:xfrm>
            <a:off x="11347704" y="5093208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2" name="Store dot 721"/>
          <p:cNvSpPr/>
          <p:nvPr/>
        </p:nvSpPr>
        <p:spPr>
          <a:xfrm>
            <a:off x="630936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3" name="Store dot 722"/>
          <p:cNvSpPr/>
          <p:nvPr/>
        </p:nvSpPr>
        <p:spPr>
          <a:xfrm>
            <a:off x="648309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4" name="Store dot 723"/>
          <p:cNvSpPr/>
          <p:nvPr/>
        </p:nvSpPr>
        <p:spPr>
          <a:xfrm>
            <a:off x="665683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5" name="Store dot 724"/>
          <p:cNvSpPr/>
          <p:nvPr/>
        </p:nvSpPr>
        <p:spPr>
          <a:xfrm>
            <a:off x="683056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6" name="Store dot 725"/>
          <p:cNvSpPr/>
          <p:nvPr/>
        </p:nvSpPr>
        <p:spPr>
          <a:xfrm>
            <a:off x="700430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7" name="Store dot 726"/>
          <p:cNvSpPr/>
          <p:nvPr/>
        </p:nvSpPr>
        <p:spPr>
          <a:xfrm>
            <a:off x="717804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8" name="Store dot 727"/>
          <p:cNvSpPr/>
          <p:nvPr/>
        </p:nvSpPr>
        <p:spPr>
          <a:xfrm>
            <a:off x="735177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9" name="Store dot 728"/>
          <p:cNvSpPr/>
          <p:nvPr/>
        </p:nvSpPr>
        <p:spPr>
          <a:xfrm>
            <a:off x="752551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0" name="Store dot 729"/>
          <p:cNvSpPr/>
          <p:nvPr/>
        </p:nvSpPr>
        <p:spPr>
          <a:xfrm>
            <a:off x="769924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1" name="Store dot 730"/>
          <p:cNvSpPr/>
          <p:nvPr/>
        </p:nvSpPr>
        <p:spPr>
          <a:xfrm>
            <a:off x="787298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2" name="Store dot 731"/>
          <p:cNvSpPr/>
          <p:nvPr/>
        </p:nvSpPr>
        <p:spPr>
          <a:xfrm>
            <a:off x="804672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3" name="Store dot 732"/>
          <p:cNvSpPr/>
          <p:nvPr/>
        </p:nvSpPr>
        <p:spPr>
          <a:xfrm>
            <a:off x="822045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4" name="Store dot 733"/>
          <p:cNvSpPr/>
          <p:nvPr/>
        </p:nvSpPr>
        <p:spPr>
          <a:xfrm>
            <a:off x="839419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5" name="Store dot 734"/>
          <p:cNvSpPr/>
          <p:nvPr/>
        </p:nvSpPr>
        <p:spPr>
          <a:xfrm>
            <a:off x="856792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6" name="Store dot 735"/>
          <p:cNvSpPr/>
          <p:nvPr/>
        </p:nvSpPr>
        <p:spPr>
          <a:xfrm>
            <a:off x="874166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7" name="Store dot 736"/>
          <p:cNvSpPr/>
          <p:nvPr/>
        </p:nvSpPr>
        <p:spPr>
          <a:xfrm>
            <a:off x="891540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8" name="Store dot 737"/>
          <p:cNvSpPr/>
          <p:nvPr/>
        </p:nvSpPr>
        <p:spPr>
          <a:xfrm>
            <a:off x="908913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9" name="Store dot 738"/>
          <p:cNvSpPr/>
          <p:nvPr/>
        </p:nvSpPr>
        <p:spPr>
          <a:xfrm>
            <a:off x="926287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0" name="Store dot 739"/>
          <p:cNvSpPr/>
          <p:nvPr/>
        </p:nvSpPr>
        <p:spPr>
          <a:xfrm>
            <a:off x="943660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1" name="Store dot 740"/>
          <p:cNvSpPr/>
          <p:nvPr/>
        </p:nvSpPr>
        <p:spPr>
          <a:xfrm>
            <a:off x="961034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2" name="Store dot 741"/>
          <p:cNvSpPr/>
          <p:nvPr/>
        </p:nvSpPr>
        <p:spPr>
          <a:xfrm>
            <a:off x="978408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3" name="Store dot 742"/>
          <p:cNvSpPr/>
          <p:nvPr/>
        </p:nvSpPr>
        <p:spPr>
          <a:xfrm>
            <a:off x="995781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4" name="Store dot 743"/>
          <p:cNvSpPr/>
          <p:nvPr/>
        </p:nvSpPr>
        <p:spPr>
          <a:xfrm>
            <a:off x="1013155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5" name="Store dot 744"/>
          <p:cNvSpPr/>
          <p:nvPr/>
        </p:nvSpPr>
        <p:spPr>
          <a:xfrm>
            <a:off x="1030528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6" name="Store dot 745"/>
          <p:cNvSpPr/>
          <p:nvPr/>
        </p:nvSpPr>
        <p:spPr>
          <a:xfrm>
            <a:off x="1047902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7" name="Store dot 746"/>
          <p:cNvSpPr/>
          <p:nvPr/>
        </p:nvSpPr>
        <p:spPr>
          <a:xfrm>
            <a:off x="10652760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8" name="Store dot 747"/>
          <p:cNvSpPr/>
          <p:nvPr/>
        </p:nvSpPr>
        <p:spPr>
          <a:xfrm>
            <a:off x="10826496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9" name="Store dot 748"/>
          <p:cNvSpPr/>
          <p:nvPr/>
        </p:nvSpPr>
        <p:spPr>
          <a:xfrm>
            <a:off x="11000232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0" name="Store dot 749"/>
          <p:cNvSpPr/>
          <p:nvPr/>
        </p:nvSpPr>
        <p:spPr>
          <a:xfrm>
            <a:off x="11173968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1" name="Store dot 750"/>
          <p:cNvSpPr/>
          <p:nvPr/>
        </p:nvSpPr>
        <p:spPr>
          <a:xfrm>
            <a:off x="11347704" y="5266944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2" name="Store dot 751"/>
          <p:cNvSpPr/>
          <p:nvPr/>
        </p:nvSpPr>
        <p:spPr>
          <a:xfrm>
            <a:off x="6309360" y="5440680"/>
            <a:ext cx="109728" cy="1097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3" name="Store dot 752"/>
          <p:cNvSpPr/>
          <p:nvPr/>
        </p:nvSpPr>
        <p:spPr>
          <a:xfrm>
            <a:off x="6483096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4" name="Store dot 753"/>
          <p:cNvSpPr/>
          <p:nvPr/>
        </p:nvSpPr>
        <p:spPr>
          <a:xfrm>
            <a:off x="6656832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5" name="Store dot 754"/>
          <p:cNvSpPr/>
          <p:nvPr/>
        </p:nvSpPr>
        <p:spPr>
          <a:xfrm>
            <a:off x="6830568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6" name="Store dot 755"/>
          <p:cNvSpPr/>
          <p:nvPr/>
        </p:nvSpPr>
        <p:spPr>
          <a:xfrm>
            <a:off x="7004304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7" name="Store dot 756"/>
          <p:cNvSpPr/>
          <p:nvPr/>
        </p:nvSpPr>
        <p:spPr>
          <a:xfrm>
            <a:off x="7178040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8" name="Store dot 757"/>
          <p:cNvSpPr/>
          <p:nvPr/>
        </p:nvSpPr>
        <p:spPr>
          <a:xfrm>
            <a:off x="7351776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9" name="Store dot 758"/>
          <p:cNvSpPr/>
          <p:nvPr/>
        </p:nvSpPr>
        <p:spPr>
          <a:xfrm>
            <a:off x="7525512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0" name="Store dot 759"/>
          <p:cNvSpPr/>
          <p:nvPr/>
        </p:nvSpPr>
        <p:spPr>
          <a:xfrm>
            <a:off x="7699248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1" name="Store dot 760"/>
          <p:cNvSpPr/>
          <p:nvPr/>
        </p:nvSpPr>
        <p:spPr>
          <a:xfrm>
            <a:off x="7872984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2" name="Store dot 761"/>
          <p:cNvSpPr/>
          <p:nvPr/>
        </p:nvSpPr>
        <p:spPr>
          <a:xfrm>
            <a:off x="8046720" y="5440680"/>
            <a:ext cx="109728" cy="1097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3" name="Text 761"/>
          <p:cNvSpPr txBox="1"/>
          <p:nvPr/>
        </p:nvSpPr>
        <p:spPr>
          <a:xfrm>
            <a:off x="6309360" y="5760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One network. Three behaviors.</a:t>
            </a:r>
            <a:endParaRPr lang="en-US" sz="1600" dirty="0"/>
          </a:p>
        </p:txBody>
      </p:sp>
      <p:sp>
        <p:nvSpPr>
          <p:cNvPr id="764" name="Cover title"/>
          <p:cNvSpPr txBox="1"/>
          <p:nvPr/>
        </p:nvSpPr>
        <p:spPr>
          <a:xfrm>
            <a:off x="640080" y="173736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FRESHBASKET Store Intelligence</a:t>
            </a:r>
            <a:endParaRPr lang="en-US" sz="4000" dirty="0"/>
          </a:p>
        </p:txBody>
      </p:sp>
      <p:sp>
        <p:nvSpPr>
          <p:cNvPr id="765" name="Text 763"/>
          <p:cNvSpPr txBox="1"/>
          <p:nvPr/>
        </p:nvSpPr>
        <p:spPr>
          <a:xfrm>
            <a:off x="64008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FMCG Retail Store Segmentation Using Clustering</a:t>
            </a:r>
            <a:endParaRPr lang="en-US" sz="2200" dirty="0"/>
          </a:p>
        </p:txBody>
      </p:sp>
      <p:sp>
        <p:nvSpPr>
          <p:cNvPr id="766" name="Text 764"/>
          <p:cNvSpPr txBox="1"/>
          <p:nvPr/>
        </p:nvSpPr>
        <p:spPr>
          <a:xfrm>
            <a:off x="640080" y="4434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Turning transaction behavior into actionable store segments</a:t>
            </a:r>
            <a:endParaRPr lang="en-US" sz="1600" dirty="0"/>
          </a:p>
        </p:txBody>
      </p:sp>
      <p:sp>
        <p:nvSpPr>
          <p:cNvPr id="767" name="Text 765"/>
          <p:cNvSpPr txBox="1"/>
          <p:nvPr/>
        </p:nvSpPr>
        <p:spPr>
          <a:xfrm>
            <a:off x="640080" y="5486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Vijay M</a:t>
            </a:r>
            <a:endParaRPr lang="en-US" sz="2000" dirty="0"/>
          </a:p>
        </p:txBody>
      </p:sp>
      <p:sp>
        <p:nvSpPr>
          <p:cNvPr id="768" name="Text 766"/>
          <p:cNvSpPr txBox="1"/>
          <p:nvPr/>
        </p:nvSpPr>
        <p:spPr>
          <a:xfrm>
            <a:off x="64008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Hiring Assessment  |  Tailwyndz Technologies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Not Every Store Should Be Managed the Same Way</a:t>
            </a:r>
            <a:endParaRPr lang="en-US" sz="3000" dirty="0"/>
          </a:p>
        </p:txBody>
      </p:sp>
      <p:sp>
        <p:nvSpPr>
          <p:cNvPr id="3" name="Card stores"/>
          <p:cNvSpPr/>
          <p:nvPr/>
        </p:nvSpPr>
        <p:spPr>
          <a:xfrm>
            <a:off x="640080" y="164592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tx2"/>
                </a:solidFill>
              </a:rPr>
              <a:t>761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154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3"/>
                </a:solidFill>
              </a:rPr>
              <a:t>stores in one FMCG network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Card patterns"/>
          <p:cNvSpPr/>
          <p:nvPr/>
        </p:nvSpPr>
        <p:spPr>
          <a:xfrm>
            <a:off x="4023360" y="164592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297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DIFFERENT BEHAVIORAL PATTERNS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28600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scale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286000"/>
            <a:ext cx="201168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 activity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78892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 breadth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78892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Spending patterns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291840"/>
            <a:ext cx="146304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Consistency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4688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Card strategies"/>
          <p:cNvSpPr/>
          <p:nvPr/>
        </p:nvSpPr>
        <p:spPr>
          <a:xfrm>
            <a:off x="8686800" y="1645920"/>
            <a:ext cx="283464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9611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TARGETED STRATEGIES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The right focus for each store group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One strategy for every store risks inefficient assortment decisions, promotions, sales attention and resource allocation.</a:t>
            </a:r>
            <a:endParaRPr lang="en-US" sz="1800" dirty="0"/>
          </a:p>
        </p:txBody>
      </p:sp>
      <p:sp>
        <p:nvSpPr>
          <p:cNvPr id="19" name="Core question band"/>
          <p:cNvSpPr/>
          <p:nvPr/>
        </p:nvSpPr>
        <p:spPr>
          <a:xfrm>
            <a:off x="640080" y="5120640"/>
            <a:ext cx="1088136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14400" y="5257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THE CORE QUESTION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321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Can we identify naturally occurring store behavior patterns and turn them into actionable segments?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31M+ Transactions to 761 Store Profiles</a:t>
            </a:r>
            <a:endParaRPr lang="en-US" sz="3000" dirty="0"/>
          </a:p>
        </p:txBody>
      </p:sp>
      <p:sp>
        <p:nvSpPr>
          <p:cNvPr id="3" name="Funnel 1"/>
          <p:cNvSpPr txBox="1"/>
          <p:nvPr/>
        </p:nvSpPr>
        <p:spPr>
          <a:xfrm>
            <a:off x="640080" y="1645920"/>
            <a:ext cx="6400800" cy="749808"/>
          </a:xfrm>
          <a:prstGeom prst="roundRect">
            <a:avLst>
              <a:gd name="adj" fmla="val 1219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chemeClr val="bg1"/>
                </a:solidFill>
              </a:rPr>
              <a:t>RAW TRANSACTIONS</a:t>
            </a:r>
            <a:endParaRPr lang="en-US" sz="1800" dirty="0"/>
          </a:p>
        </p:txBody>
      </p:sp>
      <p:sp>
        <p:nvSpPr>
          <p:cNvPr id="4" name="Funnel 2"/>
          <p:cNvSpPr txBox="1"/>
          <p:nvPr/>
        </p:nvSpPr>
        <p:spPr>
          <a:xfrm>
            <a:off x="1188720" y="2542032"/>
            <a:ext cx="5303520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chemeClr val="bg1"/>
                </a:solidFill>
              </a:rPr>
              <a:t>STORE-LEVEL AGGREGATION</a:t>
            </a:r>
            <a:endParaRPr lang="en-US" sz="1800" dirty="0"/>
          </a:p>
        </p:txBody>
      </p:sp>
      <p:sp>
        <p:nvSpPr>
          <p:cNvPr id="5" name="Funnel 3"/>
          <p:cNvSpPr txBox="1"/>
          <p:nvPr/>
        </p:nvSpPr>
        <p:spPr>
          <a:xfrm>
            <a:off x="1737360" y="3438144"/>
            <a:ext cx="4206240" cy="749808"/>
          </a:xfrm>
          <a:prstGeom prst="roundRect">
            <a:avLst>
              <a:gd name="adj" fmla="val 12195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chemeClr val="bg1"/>
                </a:solidFill>
              </a:rPr>
              <a:t>BEHAVIORAL FEATURES</a:t>
            </a:r>
            <a:endParaRPr lang="en-US" sz="1800" dirty="0"/>
          </a:p>
        </p:txBody>
      </p:sp>
      <p:sp>
        <p:nvSpPr>
          <p:cNvPr id="6" name="Funnel 4"/>
          <p:cNvSpPr txBox="1"/>
          <p:nvPr/>
        </p:nvSpPr>
        <p:spPr>
          <a:xfrm>
            <a:off x="2286000" y="4334256"/>
            <a:ext cx="31089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chemeClr val="tx1"/>
                </a:solidFill>
              </a:rPr>
              <a:t>761 STORE PROFILES</a:t>
            </a:r>
            <a:endParaRPr lang="en-US" sz="1800" dirty="0"/>
          </a:p>
        </p:txBody>
      </p:sp>
      <p:sp>
        <p:nvSpPr>
          <p:cNvPr id="7" name="Stat ~31M"/>
          <p:cNvSpPr/>
          <p:nvPr/>
        </p:nvSpPr>
        <p:spPr>
          <a:xfrm>
            <a:off x="7589520" y="1645920"/>
            <a:ext cx="3931920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818120" y="17373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~31M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1737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raw transaction rows</a:t>
            </a:r>
            <a:endParaRPr lang="en-US" sz="1600" dirty="0"/>
          </a:p>
        </p:txBody>
      </p:sp>
      <p:sp>
        <p:nvSpPr>
          <p:cNvPr id="10" name="Stat 117"/>
          <p:cNvSpPr/>
          <p:nvPr/>
        </p:nvSpPr>
        <p:spPr>
          <a:xfrm>
            <a:off x="7589520" y="2834640"/>
            <a:ext cx="3931920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818120" y="2926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117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555480" y="29260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transaction files</a:t>
            </a:r>
            <a:endParaRPr lang="en-US" sz="1600" dirty="0"/>
          </a:p>
        </p:txBody>
      </p:sp>
      <p:sp>
        <p:nvSpPr>
          <p:cNvPr id="13" name="Stat 761"/>
          <p:cNvSpPr/>
          <p:nvPr/>
        </p:nvSpPr>
        <p:spPr>
          <a:xfrm>
            <a:off x="7589520" y="4023360"/>
            <a:ext cx="3931920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818120" y="41148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</a:rPr>
              <a:t>761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stores profiled</a:t>
            </a:r>
            <a:endParaRPr lang="en-US" sz="1600" dirty="0"/>
          </a:p>
        </p:txBody>
      </p:sp>
      <p:sp>
        <p:nvSpPr>
          <p:cNvPr id="16" name="Data quality callout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Data-quality note: </a:t>
            </a:r>
            <a:r>
              <a:rPr lang="en-US" sz="1600" dirty="0">
                <a:solidFill>
                  <a:schemeClr val="tx1"/>
                </a:solidFill>
              </a:rPr>
              <a:t>CUST_CODE had substantial missingness, so customer-level analysis was not relied upon as a primary clustering dimension.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We Clustered Behavior — Not Raw Transactions</a:t>
            </a:r>
            <a:endParaRPr lang="en-US" sz="3000" dirty="0"/>
          </a:p>
        </p:txBody>
      </p:sp>
      <p:sp>
        <p:nvSpPr>
          <p:cNvPr id="3" name="Dimension SCALE"/>
          <p:cNvSpPr/>
          <p:nvPr/>
        </p:nvSpPr>
        <p:spPr>
          <a:xfrm>
            <a:off x="640080" y="16459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SCALE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Spend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Average Spend</a:t>
            </a:r>
            <a:endParaRPr lang="en-US" sz="1600" dirty="0"/>
          </a:p>
        </p:txBody>
      </p:sp>
      <p:sp>
        <p:nvSpPr>
          <p:cNvPr id="9" name="Dimension ACTIVITY"/>
          <p:cNvSpPr/>
          <p:nvPr/>
        </p:nvSpPr>
        <p:spPr>
          <a:xfrm>
            <a:off x="4366260" y="16459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40580" y="19202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6354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ACTIVITY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40580" y="274320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Basket Activity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40580" y="324612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Observed Active Weeks</a:t>
            </a:r>
            <a:endParaRPr lang="en-US" sz="1600" dirty="0"/>
          </a:p>
        </p:txBody>
      </p:sp>
      <p:sp>
        <p:nvSpPr>
          <p:cNvPr id="15" name="Dimension VOLATILITY"/>
          <p:cNvSpPr/>
          <p:nvPr/>
        </p:nvSpPr>
        <p:spPr>
          <a:xfrm>
            <a:off x="8092440" y="1645920"/>
            <a:ext cx="34290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756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VOLATILITY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74320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Spend Volatility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246120"/>
            <a:ext cx="2880360" cy="40233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Spend CV</a:t>
            </a:r>
            <a:endParaRPr lang="en-US" sz="1600" dirty="0"/>
          </a:p>
        </p:txBody>
      </p:sp>
      <p:sp>
        <p:nvSpPr>
          <p:cNvPr id="21" name="Pipeline 1"/>
          <p:cNvSpPr txBox="1"/>
          <p:nvPr/>
        </p:nvSpPr>
        <p:spPr>
          <a:xfrm>
            <a:off x="640080" y="4297680"/>
            <a:ext cx="20116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Raw store behavior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2651760" y="4480560"/>
            <a:ext cx="297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Pipeline 2"/>
          <p:cNvSpPr txBox="1"/>
          <p:nvPr/>
        </p:nvSpPr>
        <p:spPr>
          <a:xfrm>
            <a:off x="2948940" y="4297680"/>
            <a:ext cx="21031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Redundancy control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052060" y="4480560"/>
            <a:ext cx="297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Pipeline 3"/>
          <p:cNvSpPr txBox="1"/>
          <p:nvPr/>
        </p:nvSpPr>
        <p:spPr>
          <a:xfrm>
            <a:off x="5349240" y="429768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Log1p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812280" y="4480560"/>
            <a:ext cx="297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Pipeline 4"/>
          <p:cNvSpPr txBox="1"/>
          <p:nvPr/>
        </p:nvSpPr>
        <p:spPr>
          <a:xfrm>
            <a:off x="7109460" y="4297680"/>
            <a:ext cx="192024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StandardScaler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9029700" y="4480560"/>
            <a:ext cx="2971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Pipeline 5"/>
          <p:cNvSpPr txBox="1"/>
          <p:nvPr/>
        </p:nvSpPr>
        <p:spPr>
          <a:xfrm>
            <a:off x="9326880" y="429768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Clustering-ready feature space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5486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Highly correlated redundant features were removed before clustering.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 Segments That Are Both Statistical and Useful</a:t>
            </a:r>
            <a:endParaRPr lang="en-US" sz="3000" dirty="0"/>
          </a:p>
        </p:txBody>
      </p:sp>
      <p:sp>
        <p:nvSpPr>
          <p:cNvPr id="3" name="Method timeline card"/>
          <p:cNvSpPr/>
          <p:nvPr/>
        </p:nvSpPr>
        <p:spPr>
          <a:xfrm>
            <a:off x="640080" y="1645920"/>
            <a:ext cx="108813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17320" y="2148840"/>
            <a:ext cx="93268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14300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Transformation &amp; Scaling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77647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Candidate Clustering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 Comparison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Stability Analysis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874520"/>
            <a:ext cx="548640" cy="54864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Business Profiling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18745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994392" y="2606040"/>
            <a:ext cx="1499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Final Segmentation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ALGORITHMS COMPARED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QUALITY &amp; STABILITY MEASURES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056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K-Means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480560"/>
            <a:ext cx="1828800" cy="73152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Agglomerative / Ward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480560"/>
            <a:ext cx="150876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Silhouette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480560"/>
            <a:ext cx="150876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Davies-Bouldin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480560"/>
            <a:ext cx="150876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Calinski-Harabasz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4480560"/>
            <a:ext cx="150876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ARI stability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PCA is used for visualization only — not as a clustering input.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The Highest Silhouette Wasn't the Best Business Answer</a:t>
            </a:r>
            <a:endParaRPr lang="en-US" sz="3000" dirty="0"/>
          </a:p>
        </p:txBody>
      </p:sp>
      <p:sp>
        <p:nvSpPr>
          <p:cNvPr id="3" name="Card K = 2"/>
          <p:cNvSpPr/>
          <p:nvPr/>
        </p:nvSpPr>
        <p:spPr>
          <a:xfrm>
            <a:off x="640080" y="1600200"/>
            <a:ext cx="5120640" cy="3429000"/>
          </a:xfrm>
          <a:prstGeom prst="roundRect">
            <a:avLst>
              <a:gd name="adj" fmla="val 32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K = 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874520"/>
            <a:ext cx="1645920" cy="4114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REJECTED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Silhouette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6"/>
                </a:solidFill>
              </a:rPr>
              <a:t>0.7213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Mean ARI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~0.16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Largest cluster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~98%</a:t>
            </a:r>
            <a:endParaRPr lang="en-US" sz="2600" dirty="0"/>
          </a:p>
        </p:txBody>
      </p:sp>
      <p:sp>
        <p:nvSpPr>
          <p:cNvPr id="12" name="Card K = 3"/>
          <p:cNvSpPr/>
          <p:nvPr/>
        </p:nvSpPr>
        <p:spPr>
          <a:xfrm>
            <a:off x="6400800" y="1600200"/>
            <a:ext cx="512064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76656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K = 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874520"/>
            <a:ext cx="164592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SELECTED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Silhouette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788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</a:rPr>
              <a:t>0.4857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Mean ARI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0.7853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Largest cluster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55.72%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834640"/>
            <a:ext cx="640080" cy="64008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vs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Better separation alone does not guarantee a useful segmentation.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k=2 was mathematically separated but highly imbalanced and unstable. k=3 was stable and interpretable.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Distinct Store Behaviors Emerged</a:t>
            </a:r>
            <a:endParaRPr lang="en-US" sz="3000" dirty="0"/>
          </a:p>
        </p:txBody>
      </p:sp>
      <p:sp>
        <p:nvSpPr>
          <p:cNvPr id="3" name="Segment card CLUSTER 0"/>
          <p:cNvSpPr/>
          <p:nvPr/>
        </p:nvSpPr>
        <p:spPr>
          <a:xfrm>
            <a:off x="640080" y="1645920"/>
            <a:ext cx="3429000" cy="45262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CLUSTER 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INTERMITTENT / HIGH VOLATILITY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</a:rPr>
              <a:t>10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stores  |  1.31%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2880360" cy="12801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4663440"/>
            <a:ext cx="128016" cy="1280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14400" y="5029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Intermittent observed activity + unusually high spend volatility</a:t>
            </a:r>
            <a:endParaRPr lang="en-US" sz="1600" dirty="0"/>
          </a:p>
        </p:txBody>
      </p:sp>
      <p:sp>
        <p:nvSpPr>
          <p:cNvPr id="11" name="Segment card CLUSTER 1"/>
          <p:cNvSpPr/>
          <p:nvPr/>
        </p:nvSpPr>
        <p:spPr>
          <a:xfrm>
            <a:off x="4366260" y="1645920"/>
            <a:ext cx="3429000" cy="45262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640580" y="192024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tx1"/>
                </a:solidFill>
              </a:rPr>
              <a:t>CLUSTER 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40580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HIGH VOLUME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40580" y="3200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</a:rPr>
              <a:t>424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4640580" y="4114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stores  |  55.72%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40580" y="4663440"/>
            <a:ext cx="2880360" cy="12801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40580" y="4663440"/>
            <a:ext cx="1604937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640580" y="5029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High overall sales, broad activity/product mix, consistent activity</a:t>
            </a:r>
            <a:endParaRPr lang="en-US" sz="1600" dirty="0"/>
          </a:p>
        </p:txBody>
      </p:sp>
      <p:sp>
        <p:nvSpPr>
          <p:cNvPr id="19" name="Segment card CLUSTER 2"/>
          <p:cNvSpPr/>
          <p:nvPr/>
        </p:nvSpPr>
        <p:spPr>
          <a:xfrm>
            <a:off x="8092440" y="1645920"/>
            <a:ext cx="3429000" cy="452628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366760" y="192024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chemeClr val="bg1"/>
                </a:solidFill>
              </a:rPr>
              <a:t>CLUSTER 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4231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LOW VOLUME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2004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</a:rPr>
              <a:t>327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114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3"/>
                </a:solidFill>
              </a:rPr>
              <a:t>stores  |  42.97%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366760" y="4663440"/>
            <a:ext cx="2880360" cy="12801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366760" y="4663440"/>
            <a:ext cx="1237691" cy="1280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366760" y="50292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Lower overall sales and transaction activity with consistent operation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Behavioral Differences Are Visible in the Data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640080" y="1645920"/>
            <a:ext cx="603504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78308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Insight 1"/>
          <p:cNvSpPr/>
          <p:nvPr/>
        </p:nvSpPr>
        <p:spPr>
          <a:xfrm>
            <a:off x="7040880" y="1645920"/>
            <a:ext cx="44805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269480" y="19202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048256"/>
            <a:ext cx="246888" cy="2468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55280" y="17373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High-volume stores dominate the network</a:t>
            </a:r>
            <a:endParaRPr lang="en-US" sz="1600" dirty="0"/>
          </a:p>
        </p:txBody>
      </p:sp>
      <p:sp>
        <p:nvSpPr>
          <p:cNvPr id="9" name="Insight 2"/>
          <p:cNvSpPr/>
          <p:nvPr/>
        </p:nvSpPr>
        <p:spPr>
          <a:xfrm>
            <a:off x="7040880" y="2816352"/>
            <a:ext cx="44805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269480" y="309067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321868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955280" y="290779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Low-volume stores form a substantial second group</a:t>
            </a:r>
            <a:endParaRPr lang="en-US" sz="1600" dirty="0"/>
          </a:p>
        </p:txBody>
      </p:sp>
      <p:sp>
        <p:nvSpPr>
          <p:cNvPr id="13" name="Insight 3"/>
          <p:cNvSpPr/>
          <p:nvPr/>
        </p:nvSpPr>
        <p:spPr>
          <a:xfrm>
            <a:off x="7040880" y="3986784"/>
            <a:ext cx="44805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7269480" y="426110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4389120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955280" y="407822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small but structurally distinct intermittent / high-volatility group exists</a:t>
            </a:r>
            <a:endParaRPr lang="en-US" sz="1600" dirty="0"/>
          </a:p>
        </p:txBody>
      </p:sp>
      <p:sp>
        <p:nvSpPr>
          <p:cNvPr id="17" name="Metric Silhouette"/>
          <p:cNvSpPr/>
          <p:nvPr/>
        </p:nvSpPr>
        <p:spPr>
          <a:xfrm>
            <a:off x="640080" y="52578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822960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0.4857</a:t>
            </a:r>
            <a:endParaRPr lang="en-US" sz="28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Silhouette</a:t>
            </a:r>
            <a:endParaRPr lang="en-US" sz="1400" dirty="0"/>
          </a:p>
        </p:txBody>
      </p:sp>
      <p:sp>
        <p:nvSpPr>
          <p:cNvPr id="20" name="Metric Davies-Bouldin"/>
          <p:cNvSpPr/>
          <p:nvPr/>
        </p:nvSpPr>
        <p:spPr>
          <a:xfrm>
            <a:off x="3413730" y="52578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3596610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0.6703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359661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Davies-Bouldin</a:t>
            </a:r>
            <a:endParaRPr lang="en-US" sz="1400" dirty="0"/>
          </a:p>
        </p:txBody>
      </p:sp>
      <p:sp>
        <p:nvSpPr>
          <p:cNvPr id="23" name="Metric Calinski-Harabasz"/>
          <p:cNvSpPr/>
          <p:nvPr/>
        </p:nvSpPr>
        <p:spPr>
          <a:xfrm>
            <a:off x="6187379" y="52578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6370259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434.2773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6370259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Calinski-Harabasz</a:t>
            </a:r>
            <a:endParaRPr lang="en-US" sz="1400" dirty="0"/>
          </a:p>
        </p:txBody>
      </p:sp>
      <p:sp>
        <p:nvSpPr>
          <p:cNvPr id="26" name="Metric Mean ARI"/>
          <p:cNvSpPr/>
          <p:nvPr/>
        </p:nvSpPr>
        <p:spPr>
          <a:xfrm>
            <a:off x="8961029" y="52578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9143909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0.7853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9143909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Mean ARI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38 Stores Behave Differently Even Within Their Segment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b="1" dirty="0">
                <a:solidFill>
                  <a:schemeClr val="tx2"/>
                </a:solidFill>
              </a:rPr>
              <a:t>38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structural outliers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Stores whose feature profiles are unusual relative to their assigned cluster.</a:t>
            </a:r>
            <a:endParaRPr lang="en-US" sz="1800" dirty="0"/>
          </a:p>
        </p:txBody>
      </p:sp>
      <p:sp>
        <p:nvSpPr>
          <p:cNvPr id="6" name="Outlier statement"/>
          <p:cNvSpPr/>
          <p:nvPr/>
        </p:nvSpPr>
        <p:spPr>
          <a:xfrm>
            <a:off x="640080" y="4160520"/>
            <a:ext cx="530352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 outlier is not automatically a poor-performing store.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3232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7862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2492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57123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717536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6384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5644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0275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49056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9536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74166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88796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3427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80576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32688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47318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61948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76579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912096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005840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20470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35100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049731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643616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789920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936224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1082528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1228832" y="16459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1375136" y="164592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132320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27862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424928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57123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71753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863840" y="179222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01014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156448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0275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44905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595360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74166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887968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903427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918057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326880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947318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9619488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976579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91209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0058400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1020470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10351008" y="179222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1049731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1064361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0789920" y="179222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0936224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1082528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11228832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11375136" y="179222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13232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278624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42492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57123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71753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86384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8010144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815644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830275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844905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59536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8741664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888796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03427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918057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932688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9473184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961948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976579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991209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1005840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10204704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1035100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049731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1064361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10789920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10936224" y="19385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11082528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11228832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11375136" y="193852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713232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7278624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7424928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757123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771753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786384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8010144" y="208483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8156448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830275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844905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859536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8741664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8887968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903427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918057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932688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9473184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9619488" y="208483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976579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991209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1005840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0204704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0351008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1049731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1064361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10789920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10936224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11082528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11228832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11375136" y="208483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713232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727862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742492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757123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771753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786384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801014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815644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830275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844905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859536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874166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888796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903427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918057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932688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947318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961948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976579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991209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1005840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1020470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1035100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1049731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1064361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10789920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10936224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11082528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11228832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11375136" y="223113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7132320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727862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424928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57123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771753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7863840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801014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8156448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830275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844905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8595360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874166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8887968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903427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918057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9326880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947318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9619488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976579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991209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10058400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1020470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10351008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1049731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1064361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10789920" y="237744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10936224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11082528" y="237744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11228832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11375136" y="23774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7132320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727862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742492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757123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771753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7863840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801014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815644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830275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844905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8595360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874166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888796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903427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918057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9326880" y="252374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947318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961948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976579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991209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10058400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1020470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1035100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1049731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1064361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10789920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10936224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11082528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11228832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11375136" y="252374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7132320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727862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742492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7571232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771753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7863840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801014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815644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8302752" y="26700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844905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8595360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874166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888796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9034272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918057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9326880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947318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961948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9765792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991209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10058400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1020470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1035100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10497312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1064361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10789920" y="267004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10936224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11082528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11228832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11375136" y="267004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713232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727862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742492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757123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hape 250"/>
          <p:cNvSpPr/>
          <p:nvPr/>
        </p:nvSpPr>
        <p:spPr>
          <a:xfrm>
            <a:off x="771753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786384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hape 252"/>
          <p:cNvSpPr/>
          <p:nvPr/>
        </p:nvSpPr>
        <p:spPr>
          <a:xfrm>
            <a:off x="801014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hape 253"/>
          <p:cNvSpPr/>
          <p:nvPr/>
        </p:nvSpPr>
        <p:spPr>
          <a:xfrm>
            <a:off x="815644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hape 254"/>
          <p:cNvSpPr/>
          <p:nvPr/>
        </p:nvSpPr>
        <p:spPr>
          <a:xfrm>
            <a:off x="830275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844905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hape 256"/>
          <p:cNvSpPr/>
          <p:nvPr/>
        </p:nvSpPr>
        <p:spPr>
          <a:xfrm>
            <a:off x="859536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hape 257"/>
          <p:cNvSpPr/>
          <p:nvPr/>
        </p:nvSpPr>
        <p:spPr>
          <a:xfrm>
            <a:off x="874166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hape 258"/>
          <p:cNvSpPr/>
          <p:nvPr/>
        </p:nvSpPr>
        <p:spPr>
          <a:xfrm>
            <a:off x="888796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9"/>
          <p:cNvSpPr/>
          <p:nvPr/>
        </p:nvSpPr>
        <p:spPr>
          <a:xfrm>
            <a:off x="903427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hape 260"/>
          <p:cNvSpPr/>
          <p:nvPr/>
        </p:nvSpPr>
        <p:spPr>
          <a:xfrm>
            <a:off x="918057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Shape 261"/>
          <p:cNvSpPr/>
          <p:nvPr/>
        </p:nvSpPr>
        <p:spPr>
          <a:xfrm>
            <a:off x="932688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Shape 262"/>
          <p:cNvSpPr/>
          <p:nvPr/>
        </p:nvSpPr>
        <p:spPr>
          <a:xfrm>
            <a:off x="947318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3"/>
          <p:cNvSpPr/>
          <p:nvPr/>
        </p:nvSpPr>
        <p:spPr>
          <a:xfrm>
            <a:off x="961948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hape 264"/>
          <p:cNvSpPr/>
          <p:nvPr/>
        </p:nvSpPr>
        <p:spPr>
          <a:xfrm>
            <a:off x="976579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Shape 265"/>
          <p:cNvSpPr/>
          <p:nvPr/>
        </p:nvSpPr>
        <p:spPr>
          <a:xfrm>
            <a:off x="991209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Shape 266"/>
          <p:cNvSpPr/>
          <p:nvPr/>
        </p:nvSpPr>
        <p:spPr>
          <a:xfrm>
            <a:off x="1005840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Shape 267"/>
          <p:cNvSpPr/>
          <p:nvPr/>
        </p:nvSpPr>
        <p:spPr>
          <a:xfrm>
            <a:off x="1020470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hape 268"/>
          <p:cNvSpPr/>
          <p:nvPr/>
        </p:nvSpPr>
        <p:spPr>
          <a:xfrm>
            <a:off x="1035100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Shape 269"/>
          <p:cNvSpPr/>
          <p:nvPr/>
        </p:nvSpPr>
        <p:spPr>
          <a:xfrm>
            <a:off x="1049731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Shape 270"/>
          <p:cNvSpPr/>
          <p:nvPr/>
        </p:nvSpPr>
        <p:spPr>
          <a:xfrm>
            <a:off x="1064361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Shape 271"/>
          <p:cNvSpPr/>
          <p:nvPr/>
        </p:nvSpPr>
        <p:spPr>
          <a:xfrm>
            <a:off x="10789920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Shape 272"/>
          <p:cNvSpPr/>
          <p:nvPr/>
        </p:nvSpPr>
        <p:spPr>
          <a:xfrm>
            <a:off x="10936224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Shape 273"/>
          <p:cNvSpPr/>
          <p:nvPr/>
        </p:nvSpPr>
        <p:spPr>
          <a:xfrm>
            <a:off x="11082528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Shape 274"/>
          <p:cNvSpPr/>
          <p:nvPr/>
        </p:nvSpPr>
        <p:spPr>
          <a:xfrm>
            <a:off x="11228832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Shape 275"/>
          <p:cNvSpPr/>
          <p:nvPr/>
        </p:nvSpPr>
        <p:spPr>
          <a:xfrm>
            <a:off x="11375136" y="281635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8" name="Shape 276"/>
          <p:cNvSpPr/>
          <p:nvPr/>
        </p:nvSpPr>
        <p:spPr>
          <a:xfrm>
            <a:off x="713232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Shape 277"/>
          <p:cNvSpPr/>
          <p:nvPr/>
        </p:nvSpPr>
        <p:spPr>
          <a:xfrm>
            <a:off x="727862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0" name="Shape 278"/>
          <p:cNvSpPr/>
          <p:nvPr/>
        </p:nvSpPr>
        <p:spPr>
          <a:xfrm>
            <a:off x="742492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Shape 279"/>
          <p:cNvSpPr/>
          <p:nvPr/>
        </p:nvSpPr>
        <p:spPr>
          <a:xfrm>
            <a:off x="757123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2" name="Shape 280"/>
          <p:cNvSpPr/>
          <p:nvPr/>
        </p:nvSpPr>
        <p:spPr>
          <a:xfrm>
            <a:off x="771753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3" name="Shape 281"/>
          <p:cNvSpPr/>
          <p:nvPr/>
        </p:nvSpPr>
        <p:spPr>
          <a:xfrm>
            <a:off x="786384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Shape 282"/>
          <p:cNvSpPr/>
          <p:nvPr/>
        </p:nvSpPr>
        <p:spPr>
          <a:xfrm>
            <a:off x="801014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5" name="Shape 283"/>
          <p:cNvSpPr/>
          <p:nvPr/>
        </p:nvSpPr>
        <p:spPr>
          <a:xfrm>
            <a:off x="815644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6" name="Shape 284"/>
          <p:cNvSpPr/>
          <p:nvPr/>
        </p:nvSpPr>
        <p:spPr>
          <a:xfrm>
            <a:off x="830275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Shape 285"/>
          <p:cNvSpPr/>
          <p:nvPr/>
        </p:nvSpPr>
        <p:spPr>
          <a:xfrm>
            <a:off x="844905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8" name="Shape 286"/>
          <p:cNvSpPr/>
          <p:nvPr/>
        </p:nvSpPr>
        <p:spPr>
          <a:xfrm>
            <a:off x="859536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9" name="Shape 287"/>
          <p:cNvSpPr/>
          <p:nvPr/>
        </p:nvSpPr>
        <p:spPr>
          <a:xfrm>
            <a:off x="874166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Shape 288"/>
          <p:cNvSpPr/>
          <p:nvPr/>
        </p:nvSpPr>
        <p:spPr>
          <a:xfrm>
            <a:off x="888796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1" name="Shape 289"/>
          <p:cNvSpPr/>
          <p:nvPr/>
        </p:nvSpPr>
        <p:spPr>
          <a:xfrm>
            <a:off x="903427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2" name="Shape 290"/>
          <p:cNvSpPr/>
          <p:nvPr/>
        </p:nvSpPr>
        <p:spPr>
          <a:xfrm>
            <a:off x="918057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Shape 291"/>
          <p:cNvSpPr/>
          <p:nvPr/>
        </p:nvSpPr>
        <p:spPr>
          <a:xfrm>
            <a:off x="932688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4" name="Shape 292"/>
          <p:cNvSpPr/>
          <p:nvPr/>
        </p:nvSpPr>
        <p:spPr>
          <a:xfrm>
            <a:off x="947318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5" name="Shape 293"/>
          <p:cNvSpPr/>
          <p:nvPr/>
        </p:nvSpPr>
        <p:spPr>
          <a:xfrm>
            <a:off x="961948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6" name="Shape 294"/>
          <p:cNvSpPr/>
          <p:nvPr/>
        </p:nvSpPr>
        <p:spPr>
          <a:xfrm>
            <a:off x="976579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7" name="Shape 295"/>
          <p:cNvSpPr/>
          <p:nvPr/>
        </p:nvSpPr>
        <p:spPr>
          <a:xfrm>
            <a:off x="991209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8" name="Shape 296"/>
          <p:cNvSpPr/>
          <p:nvPr/>
        </p:nvSpPr>
        <p:spPr>
          <a:xfrm>
            <a:off x="1005840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9" name="Shape 297"/>
          <p:cNvSpPr/>
          <p:nvPr/>
        </p:nvSpPr>
        <p:spPr>
          <a:xfrm>
            <a:off x="1020470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0" name="Shape 298"/>
          <p:cNvSpPr/>
          <p:nvPr/>
        </p:nvSpPr>
        <p:spPr>
          <a:xfrm>
            <a:off x="1035100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1" name="Shape 299"/>
          <p:cNvSpPr/>
          <p:nvPr/>
        </p:nvSpPr>
        <p:spPr>
          <a:xfrm>
            <a:off x="1049731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2" name="Shape 300"/>
          <p:cNvSpPr/>
          <p:nvPr/>
        </p:nvSpPr>
        <p:spPr>
          <a:xfrm>
            <a:off x="1064361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3" name="Shape 301"/>
          <p:cNvSpPr/>
          <p:nvPr/>
        </p:nvSpPr>
        <p:spPr>
          <a:xfrm>
            <a:off x="10789920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4" name="Shape 302"/>
          <p:cNvSpPr/>
          <p:nvPr/>
        </p:nvSpPr>
        <p:spPr>
          <a:xfrm>
            <a:off x="10936224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5" name="Shape 303"/>
          <p:cNvSpPr/>
          <p:nvPr/>
        </p:nvSpPr>
        <p:spPr>
          <a:xfrm>
            <a:off x="11082528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6" name="Shape 304"/>
          <p:cNvSpPr/>
          <p:nvPr/>
        </p:nvSpPr>
        <p:spPr>
          <a:xfrm>
            <a:off x="11228832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7" name="Shape 305"/>
          <p:cNvSpPr/>
          <p:nvPr/>
        </p:nvSpPr>
        <p:spPr>
          <a:xfrm>
            <a:off x="11375136" y="296265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8" name="Shape 306"/>
          <p:cNvSpPr/>
          <p:nvPr/>
        </p:nvSpPr>
        <p:spPr>
          <a:xfrm>
            <a:off x="7132320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9" name="Shape 307"/>
          <p:cNvSpPr/>
          <p:nvPr/>
        </p:nvSpPr>
        <p:spPr>
          <a:xfrm>
            <a:off x="7278624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" name="Shape 308"/>
          <p:cNvSpPr/>
          <p:nvPr/>
        </p:nvSpPr>
        <p:spPr>
          <a:xfrm>
            <a:off x="742492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1" name="Shape 309"/>
          <p:cNvSpPr/>
          <p:nvPr/>
        </p:nvSpPr>
        <p:spPr>
          <a:xfrm>
            <a:off x="757123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2" name="Shape 310"/>
          <p:cNvSpPr/>
          <p:nvPr/>
        </p:nvSpPr>
        <p:spPr>
          <a:xfrm>
            <a:off x="7717536" y="31089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3" name="Shape 311"/>
          <p:cNvSpPr/>
          <p:nvPr/>
        </p:nvSpPr>
        <p:spPr>
          <a:xfrm>
            <a:off x="7863840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4" name="Shape 312"/>
          <p:cNvSpPr/>
          <p:nvPr/>
        </p:nvSpPr>
        <p:spPr>
          <a:xfrm>
            <a:off x="8010144" y="31089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5" name="Shape 313"/>
          <p:cNvSpPr/>
          <p:nvPr/>
        </p:nvSpPr>
        <p:spPr>
          <a:xfrm>
            <a:off x="815644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6" name="Shape 314"/>
          <p:cNvSpPr/>
          <p:nvPr/>
        </p:nvSpPr>
        <p:spPr>
          <a:xfrm>
            <a:off x="830275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7" name="Shape 315"/>
          <p:cNvSpPr/>
          <p:nvPr/>
        </p:nvSpPr>
        <p:spPr>
          <a:xfrm>
            <a:off x="8449056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8" name="Shape 316"/>
          <p:cNvSpPr/>
          <p:nvPr/>
        </p:nvSpPr>
        <p:spPr>
          <a:xfrm>
            <a:off x="8595360" y="31089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9" name="Shape 317"/>
          <p:cNvSpPr/>
          <p:nvPr/>
        </p:nvSpPr>
        <p:spPr>
          <a:xfrm>
            <a:off x="8741664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hape 318"/>
          <p:cNvSpPr/>
          <p:nvPr/>
        </p:nvSpPr>
        <p:spPr>
          <a:xfrm>
            <a:off x="888796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Shape 319"/>
          <p:cNvSpPr/>
          <p:nvPr/>
        </p:nvSpPr>
        <p:spPr>
          <a:xfrm>
            <a:off x="903427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2" name="Shape 320"/>
          <p:cNvSpPr/>
          <p:nvPr/>
        </p:nvSpPr>
        <p:spPr>
          <a:xfrm>
            <a:off x="9180576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3" name="Shape 321"/>
          <p:cNvSpPr/>
          <p:nvPr/>
        </p:nvSpPr>
        <p:spPr>
          <a:xfrm>
            <a:off x="9326880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4" name="Shape 322"/>
          <p:cNvSpPr/>
          <p:nvPr/>
        </p:nvSpPr>
        <p:spPr>
          <a:xfrm>
            <a:off x="9473184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hape 323"/>
          <p:cNvSpPr/>
          <p:nvPr/>
        </p:nvSpPr>
        <p:spPr>
          <a:xfrm>
            <a:off x="961948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Shape 324"/>
          <p:cNvSpPr/>
          <p:nvPr/>
        </p:nvSpPr>
        <p:spPr>
          <a:xfrm>
            <a:off x="976579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7" name="Shape 325"/>
          <p:cNvSpPr/>
          <p:nvPr/>
        </p:nvSpPr>
        <p:spPr>
          <a:xfrm>
            <a:off x="9912096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8" name="Shape 326"/>
          <p:cNvSpPr/>
          <p:nvPr/>
        </p:nvSpPr>
        <p:spPr>
          <a:xfrm>
            <a:off x="10058400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9" name="Shape 327"/>
          <p:cNvSpPr/>
          <p:nvPr/>
        </p:nvSpPr>
        <p:spPr>
          <a:xfrm>
            <a:off x="10204704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hape 328"/>
          <p:cNvSpPr/>
          <p:nvPr/>
        </p:nvSpPr>
        <p:spPr>
          <a:xfrm>
            <a:off x="1035100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Shape 329"/>
          <p:cNvSpPr/>
          <p:nvPr/>
        </p:nvSpPr>
        <p:spPr>
          <a:xfrm>
            <a:off x="1049731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2" name="Shape 330"/>
          <p:cNvSpPr/>
          <p:nvPr/>
        </p:nvSpPr>
        <p:spPr>
          <a:xfrm>
            <a:off x="10643616" y="310896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3" name="Shape 331"/>
          <p:cNvSpPr/>
          <p:nvPr/>
        </p:nvSpPr>
        <p:spPr>
          <a:xfrm>
            <a:off x="10789920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4" name="Shape 332"/>
          <p:cNvSpPr/>
          <p:nvPr/>
        </p:nvSpPr>
        <p:spPr>
          <a:xfrm>
            <a:off x="10936224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5" name="Shape 333"/>
          <p:cNvSpPr/>
          <p:nvPr/>
        </p:nvSpPr>
        <p:spPr>
          <a:xfrm>
            <a:off x="11082528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6" name="Shape 334"/>
          <p:cNvSpPr/>
          <p:nvPr/>
        </p:nvSpPr>
        <p:spPr>
          <a:xfrm>
            <a:off x="11228832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7" name="Shape 335"/>
          <p:cNvSpPr/>
          <p:nvPr/>
        </p:nvSpPr>
        <p:spPr>
          <a:xfrm>
            <a:off x="11375136" y="310896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8" name="Shape 336"/>
          <p:cNvSpPr/>
          <p:nvPr/>
        </p:nvSpPr>
        <p:spPr>
          <a:xfrm>
            <a:off x="7132320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9" name="Shape 337"/>
          <p:cNvSpPr/>
          <p:nvPr/>
        </p:nvSpPr>
        <p:spPr>
          <a:xfrm>
            <a:off x="727862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0" name="Shape 338"/>
          <p:cNvSpPr/>
          <p:nvPr/>
        </p:nvSpPr>
        <p:spPr>
          <a:xfrm>
            <a:off x="742492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1" name="Shape 339"/>
          <p:cNvSpPr/>
          <p:nvPr/>
        </p:nvSpPr>
        <p:spPr>
          <a:xfrm>
            <a:off x="757123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2" name="Shape 340"/>
          <p:cNvSpPr/>
          <p:nvPr/>
        </p:nvSpPr>
        <p:spPr>
          <a:xfrm>
            <a:off x="7717536" y="325526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3" name="Shape 341"/>
          <p:cNvSpPr/>
          <p:nvPr/>
        </p:nvSpPr>
        <p:spPr>
          <a:xfrm>
            <a:off x="7863840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4" name="Shape 342"/>
          <p:cNvSpPr/>
          <p:nvPr/>
        </p:nvSpPr>
        <p:spPr>
          <a:xfrm>
            <a:off x="801014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5" name="Shape 343"/>
          <p:cNvSpPr/>
          <p:nvPr/>
        </p:nvSpPr>
        <p:spPr>
          <a:xfrm>
            <a:off x="815644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6" name="Shape 344"/>
          <p:cNvSpPr/>
          <p:nvPr/>
        </p:nvSpPr>
        <p:spPr>
          <a:xfrm>
            <a:off x="830275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7" name="Shape 345"/>
          <p:cNvSpPr/>
          <p:nvPr/>
        </p:nvSpPr>
        <p:spPr>
          <a:xfrm>
            <a:off x="8449056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8" name="Shape 346"/>
          <p:cNvSpPr/>
          <p:nvPr/>
        </p:nvSpPr>
        <p:spPr>
          <a:xfrm>
            <a:off x="8595360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9" name="Shape 347"/>
          <p:cNvSpPr/>
          <p:nvPr/>
        </p:nvSpPr>
        <p:spPr>
          <a:xfrm>
            <a:off x="874166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0" name="Shape 348"/>
          <p:cNvSpPr/>
          <p:nvPr/>
        </p:nvSpPr>
        <p:spPr>
          <a:xfrm>
            <a:off x="888796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1" name="Shape 349"/>
          <p:cNvSpPr/>
          <p:nvPr/>
        </p:nvSpPr>
        <p:spPr>
          <a:xfrm>
            <a:off x="903427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2" name="Shape 350"/>
          <p:cNvSpPr/>
          <p:nvPr/>
        </p:nvSpPr>
        <p:spPr>
          <a:xfrm>
            <a:off x="9180576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3" name="Shape 351"/>
          <p:cNvSpPr/>
          <p:nvPr/>
        </p:nvSpPr>
        <p:spPr>
          <a:xfrm>
            <a:off x="9326880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4" name="Shape 352"/>
          <p:cNvSpPr/>
          <p:nvPr/>
        </p:nvSpPr>
        <p:spPr>
          <a:xfrm>
            <a:off x="947318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5" name="Shape 353"/>
          <p:cNvSpPr/>
          <p:nvPr/>
        </p:nvSpPr>
        <p:spPr>
          <a:xfrm>
            <a:off x="961948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6" name="Shape 354"/>
          <p:cNvSpPr/>
          <p:nvPr/>
        </p:nvSpPr>
        <p:spPr>
          <a:xfrm>
            <a:off x="976579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7" name="Shape 355"/>
          <p:cNvSpPr/>
          <p:nvPr/>
        </p:nvSpPr>
        <p:spPr>
          <a:xfrm>
            <a:off x="9912096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8" name="Shape 356"/>
          <p:cNvSpPr/>
          <p:nvPr/>
        </p:nvSpPr>
        <p:spPr>
          <a:xfrm>
            <a:off x="10058400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9" name="Shape 357"/>
          <p:cNvSpPr/>
          <p:nvPr/>
        </p:nvSpPr>
        <p:spPr>
          <a:xfrm>
            <a:off x="1020470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0" name="Shape 358"/>
          <p:cNvSpPr/>
          <p:nvPr/>
        </p:nvSpPr>
        <p:spPr>
          <a:xfrm>
            <a:off x="1035100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1" name="Shape 359"/>
          <p:cNvSpPr/>
          <p:nvPr/>
        </p:nvSpPr>
        <p:spPr>
          <a:xfrm>
            <a:off x="1049731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2" name="Shape 360"/>
          <p:cNvSpPr/>
          <p:nvPr/>
        </p:nvSpPr>
        <p:spPr>
          <a:xfrm>
            <a:off x="10643616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3" name="Shape 361"/>
          <p:cNvSpPr/>
          <p:nvPr/>
        </p:nvSpPr>
        <p:spPr>
          <a:xfrm>
            <a:off x="10789920" y="325526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4" name="Shape 362"/>
          <p:cNvSpPr/>
          <p:nvPr/>
        </p:nvSpPr>
        <p:spPr>
          <a:xfrm>
            <a:off x="10936224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5" name="Shape 363"/>
          <p:cNvSpPr/>
          <p:nvPr/>
        </p:nvSpPr>
        <p:spPr>
          <a:xfrm>
            <a:off x="11082528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6" name="Shape 364"/>
          <p:cNvSpPr/>
          <p:nvPr/>
        </p:nvSpPr>
        <p:spPr>
          <a:xfrm>
            <a:off x="11228832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7" name="Shape 365"/>
          <p:cNvSpPr/>
          <p:nvPr/>
        </p:nvSpPr>
        <p:spPr>
          <a:xfrm>
            <a:off x="11375136" y="325526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8" name="Shape 366"/>
          <p:cNvSpPr/>
          <p:nvPr/>
        </p:nvSpPr>
        <p:spPr>
          <a:xfrm>
            <a:off x="7132320" y="34015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9" name="Shape 367"/>
          <p:cNvSpPr/>
          <p:nvPr/>
        </p:nvSpPr>
        <p:spPr>
          <a:xfrm>
            <a:off x="7278624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0" name="Shape 368"/>
          <p:cNvSpPr/>
          <p:nvPr/>
        </p:nvSpPr>
        <p:spPr>
          <a:xfrm>
            <a:off x="742492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1" name="Shape 369"/>
          <p:cNvSpPr/>
          <p:nvPr/>
        </p:nvSpPr>
        <p:spPr>
          <a:xfrm>
            <a:off x="7571232" y="34015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2" name="Shape 370"/>
          <p:cNvSpPr/>
          <p:nvPr/>
        </p:nvSpPr>
        <p:spPr>
          <a:xfrm>
            <a:off x="771753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3" name="Shape 371"/>
          <p:cNvSpPr/>
          <p:nvPr/>
        </p:nvSpPr>
        <p:spPr>
          <a:xfrm>
            <a:off x="7863840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4" name="Shape 372"/>
          <p:cNvSpPr/>
          <p:nvPr/>
        </p:nvSpPr>
        <p:spPr>
          <a:xfrm>
            <a:off x="8010144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5" name="Shape 373"/>
          <p:cNvSpPr/>
          <p:nvPr/>
        </p:nvSpPr>
        <p:spPr>
          <a:xfrm>
            <a:off x="815644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6" name="Shape 374"/>
          <p:cNvSpPr/>
          <p:nvPr/>
        </p:nvSpPr>
        <p:spPr>
          <a:xfrm>
            <a:off x="8302752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7" name="Shape 375"/>
          <p:cNvSpPr/>
          <p:nvPr/>
        </p:nvSpPr>
        <p:spPr>
          <a:xfrm>
            <a:off x="844905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8" name="Shape 376"/>
          <p:cNvSpPr/>
          <p:nvPr/>
        </p:nvSpPr>
        <p:spPr>
          <a:xfrm>
            <a:off x="8595360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9" name="Shape 377"/>
          <p:cNvSpPr/>
          <p:nvPr/>
        </p:nvSpPr>
        <p:spPr>
          <a:xfrm>
            <a:off x="8741664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0" name="Shape 378"/>
          <p:cNvSpPr/>
          <p:nvPr/>
        </p:nvSpPr>
        <p:spPr>
          <a:xfrm>
            <a:off x="888796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1" name="Shape 379"/>
          <p:cNvSpPr/>
          <p:nvPr/>
        </p:nvSpPr>
        <p:spPr>
          <a:xfrm>
            <a:off x="9034272" y="34015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2" name="Shape 380"/>
          <p:cNvSpPr/>
          <p:nvPr/>
        </p:nvSpPr>
        <p:spPr>
          <a:xfrm>
            <a:off x="918057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3" name="Shape 381"/>
          <p:cNvSpPr/>
          <p:nvPr/>
        </p:nvSpPr>
        <p:spPr>
          <a:xfrm>
            <a:off x="9326880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4" name="Shape 382"/>
          <p:cNvSpPr/>
          <p:nvPr/>
        </p:nvSpPr>
        <p:spPr>
          <a:xfrm>
            <a:off x="9473184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5" name="Shape 383"/>
          <p:cNvSpPr/>
          <p:nvPr/>
        </p:nvSpPr>
        <p:spPr>
          <a:xfrm>
            <a:off x="961948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6" name="Shape 384"/>
          <p:cNvSpPr/>
          <p:nvPr/>
        </p:nvSpPr>
        <p:spPr>
          <a:xfrm>
            <a:off x="9765792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7" name="Shape 385"/>
          <p:cNvSpPr/>
          <p:nvPr/>
        </p:nvSpPr>
        <p:spPr>
          <a:xfrm>
            <a:off x="991209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8" name="Shape 386"/>
          <p:cNvSpPr/>
          <p:nvPr/>
        </p:nvSpPr>
        <p:spPr>
          <a:xfrm>
            <a:off x="10058400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9" name="Shape 387"/>
          <p:cNvSpPr/>
          <p:nvPr/>
        </p:nvSpPr>
        <p:spPr>
          <a:xfrm>
            <a:off x="10204704" y="34015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0" name="Shape 388"/>
          <p:cNvSpPr/>
          <p:nvPr/>
        </p:nvSpPr>
        <p:spPr>
          <a:xfrm>
            <a:off x="1035100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1" name="Shape 389"/>
          <p:cNvSpPr/>
          <p:nvPr/>
        </p:nvSpPr>
        <p:spPr>
          <a:xfrm>
            <a:off x="10497312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2" name="Shape 390"/>
          <p:cNvSpPr/>
          <p:nvPr/>
        </p:nvSpPr>
        <p:spPr>
          <a:xfrm>
            <a:off x="1064361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3" name="Shape 391"/>
          <p:cNvSpPr/>
          <p:nvPr/>
        </p:nvSpPr>
        <p:spPr>
          <a:xfrm>
            <a:off x="10789920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4" name="Shape 392"/>
          <p:cNvSpPr/>
          <p:nvPr/>
        </p:nvSpPr>
        <p:spPr>
          <a:xfrm>
            <a:off x="10936224" y="340156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5" name="Shape 393"/>
          <p:cNvSpPr/>
          <p:nvPr/>
        </p:nvSpPr>
        <p:spPr>
          <a:xfrm>
            <a:off x="11082528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6" name="Shape 394"/>
          <p:cNvSpPr/>
          <p:nvPr/>
        </p:nvSpPr>
        <p:spPr>
          <a:xfrm>
            <a:off x="11228832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7" name="Shape 395"/>
          <p:cNvSpPr/>
          <p:nvPr/>
        </p:nvSpPr>
        <p:spPr>
          <a:xfrm>
            <a:off x="11375136" y="340156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8" name="Shape 396"/>
          <p:cNvSpPr/>
          <p:nvPr/>
        </p:nvSpPr>
        <p:spPr>
          <a:xfrm>
            <a:off x="713232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Shape 397"/>
          <p:cNvSpPr/>
          <p:nvPr/>
        </p:nvSpPr>
        <p:spPr>
          <a:xfrm>
            <a:off x="727862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0" name="Shape 398"/>
          <p:cNvSpPr/>
          <p:nvPr/>
        </p:nvSpPr>
        <p:spPr>
          <a:xfrm>
            <a:off x="742492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Shape 399"/>
          <p:cNvSpPr/>
          <p:nvPr/>
        </p:nvSpPr>
        <p:spPr>
          <a:xfrm>
            <a:off x="757123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2" name="Shape 400"/>
          <p:cNvSpPr/>
          <p:nvPr/>
        </p:nvSpPr>
        <p:spPr>
          <a:xfrm>
            <a:off x="771753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3" name="Shape 401"/>
          <p:cNvSpPr/>
          <p:nvPr/>
        </p:nvSpPr>
        <p:spPr>
          <a:xfrm>
            <a:off x="786384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Shape 402"/>
          <p:cNvSpPr/>
          <p:nvPr/>
        </p:nvSpPr>
        <p:spPr>
          <a:xfrm>
            <a:off x="801014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5" name="Shape 403"/>
          <p:cNvSpPr/>
          <p:nvPr/>
        </p:nvSpPr>
        <p:spPr>
          <a:xfrm>
            <a:off x="815644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6" name="Shape 404"/>
          <p:cNvSpPr/>
          <p:nvPr/>
        </p:nvSpPr>
        <p:spPr>
          <a:xfrm>
            <a:off x="830275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7" name="Shape 405"/>
          <p:cNvSpPr/>
          <p:nvPr/>
        </p:nvSpPr>
        <p:spPr>
          <a:xfrm>
            <a:off x="844905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8" name="Shape 406"/>
          <p:cNvSpPr/>
          <p:nvPr/>
        </p:nvSpPr>
        <p:spPr>
          <a:xfrm>
            <a:off x="859536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9" name="Shape 407"/>
          <p:cNvSpPr/>
          <p:nvPr/>
        </p:nvSpPr>
        <p:spPr>
          <a:xfrm>
            <a:off x="874166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0" name="Shape 408"/>
          <p:cNvSpPr/>
          <p:nvPr/>
        </p:nvSpPr>
        <p:spPr>
          <a:xfrm>
            <a:off x="888796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1" name="Shape 409"/>
          <p:cNvSpPr/>
          <p:nvPr/>
        </p:nvSpPr>
        <p:spPr>
          <a:xfrm>
            <a:off x="903427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2" name="Shape 410"/>
          <p:cNvSpPr/>
          <p:nvPr/>
        </p:nvSpPr>
        <p:spPr>
          <a:xfrm>
            <a:off x="918057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3" name="Shape 411"/>
          <p:cNvSpPr/>
          <p:nvPr/>
        </p:nvSpPr>
        <p:spPr>
          <a:xfrm>
            <a:off x="932688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4" name="Shape 412"/>
          <p:cNvSpPr/>
          <p:nvPr/>
        </p:nvSpPr>
        <p:spPr>
          <a:xfrm>
            <a:off x="947318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5" name="Shape 413"/>
          <p:cNvSpPr/>
          <p:nvPr/>
        </p:nvSpPr>
        <p:spPr>
          <a:xfrm>
            <a:off x="961948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6" name="Shape 414"/>
          <p:cNvSpPr/>
          <p:nvPr/>
        </p:nvSpPr>
        <p:spPr>
          <a:xfrm>
            <a:off x="976579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7" name="Shape 415"/>
          <p:cNvSpPr/>
          <p:nvPr/>
        </p:nvSpPr>
        <p:spPr>
          <a:xfrm>
            <a:off x="991209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8" name="Shape 416"/>
          <p:cNvSpPr/>
          <p:nvPr/>
        </p:nvSpPr>
        <p:spPr>
          <a:xfrm>
            <a:off x="1005840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Shape 417"/>
          <p:cNvSpPr/>
          <p:nvPr/>
        </p:nvSpPr>
        <p:spPr>
          <a:xfrm>
            <a:off x="1020470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0" name="Shape 418"/>
          <p:cNvSpPr/>
          <p:nvPr/>
        </p:nvSpPr>
        <p:spPr>
          <a:xfrm>
            <a:off x="1035100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1" name="Shape 419"/>
          <p:cNvSpPr/>
          <p:nvPr/>
        </p:nvSpPr>
        <p:spPr>
          <a:xfrm>
            <a:off x="1049731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2" name="Shape 420"/>
          <p:cNvSpPr/>
          <p:nvPr/>
        </p:nvSpPr>
        <p:spPr>
          <a:xfrm>
            <a:off x="1064361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3" name="Shape 421"/>
          <p:cNvSpPr/>
          <p:nvPr/>
        </p:nvSpPr>
        <p:spPr>
          <a:xfrm>
            <a:off x="10789920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4" name="Shape 422"/>
          <p:cNvSpPr/>
          <p:nvPr/>
        </p:nvSpPr>
        <p:spPr>
          <a:xfrm>
            <a:off x="10936224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5" name="Shape 423"/>
          <p:cNvSpPr/>
          <p:nvPr/>
        </p:nvSpPr>
        <p:spPr>
          <a:xfrm>
            <a:off x="11082528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6" name="Shape 424"/>
          <p:cNvSpPr/>
          <p:nvPr/>
        </p:nvSpPr>
        <p:spPr>
          <a:xfrm>
            <a:off x="11228832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7" name="Shape 425"/>
          <p:cNvSpPr/>
          <p:nvPr/>
        </p:nvSpPr>
        <p:spPr>
          <a:xfrm>
            <a:off x="11375136" y="354787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8" name="Shape 426"/>
          <p:cNvSpPr/>
          <p:nvPr/>
        </p:nvSpPr>
        <p:spPr>
          <a:xfrm>
            <a:off x="713232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9" name="Shape 427"/>
          <p:cNvSpPr/>
          <p:nvPr/>
        </p:nvSpPr>
        <p:spPr>
          <a:xfrm>
            <a:off x="7278624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0" name="Shape 428"/>
          <p:cNvSpPr/>
          <p:nvPr/>
        </p:nvSpPr>
        <p:spPr>
          <a:xfrm>
            <a:off x="742492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1" name="Shape 429"/>
          <p:cNvSpPr/>
          <p:nvPr/>
        </p:nvSpPr>
        <p:spPr>
          <a:xfrm>
            <a:off x="757123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2" name="Shape 430"/>
          <p:cNvSpPr/>
          <p:nvPr/>
        </p:nvSpPr>
        <p:spPr>
          <a:xfrm>
            <a:off x="771753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3" name="Shape 431"/>
          <p:cNvSpPr/>
          <p:nvPr/>
        </p:nvSpPr>
        <p:spPr>
          <a:xfrm>
            <a:off x="786384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4" name="Shape 432"/>
          <p:cNvSpPr/>
          <p:nvPr/>
        </p:nvSpPr>
        <p:spPr>
          <a:xfrm>
            <a:off x="8010144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5" name="Shape 433"/>
          <p:cNvSpPr/>
          <p:nvPr/>
        </p:nvSpPr>
        <p:spPr>
          <a:xfrm>
            <a:off x="815644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6" name="Shape 434"/>
          <p:cNvSpPr/>
          <p:nvPr/>
        </p:nvSpPr>
        <p:spPr>
          <a:xfrm>
            <a:off x="830275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7" name="Shape 435"/>
          <p:cNvSpPr/>
          <p:nvPr/>
        </p:nvSpPr>
        <p:spPr>
          <a:xfrm>
            <a:off x="844905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8" name="Shape 436"/>
          <p:cNvSpPr/>
          <p:nvPr/>
        </p:nvSpPr>
        <p:spPr>
          <a:xfrm>
            <a:off x="859536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Shape 437"/>
          <p:cNvSpPr/>
          <p:nvPr/>
        </p:nvSpPr>
        <p:spPr>
          <a:xfrm>
            <a:off x="8741664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0" name="Shape 438"/>
          <p:cNvSpPr/>
          <p:nvPr/>
        </p:nvSpPr>
        <p:spPr>
          <a:xfrm>
            <a:off x="888796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1" name="Shape 439"/>
          <p:cNvSpPr/>
          <p:nvPr/>
        </p:nvSpPr>
        <p:spPr>
          <a:xfrm>
            <a:off x="903427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2" name="Shape 440"/>
          <p:cNvSpPr/>
          <p:nvPr/>
        </p:nvSpPr>
        <p:spPr>
          <a:xfrm>
            <a:off x="918057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3" name="Shape 441"/>
          <p:cNvSpPr/>
          <p:nvPr/>
        </p:nvSpPr>
        <p:spPr>
          <a:xfrm>
            <a:off x="932688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4" name="Shape 442"/>
          <p:cNvSpPr/>
          <p:nvPr/>
        </p:nvSpPr>
        <p:spPr>
          <a:xfrm>
            <a:off x="9473184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5" name="Shape 443"/>
          <p:cNvSpPr/>
          <p:nvPr/>
        </p:nvSpPr>
        <p:spPr>
          <a:xfrm>
            <a:off x="961948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6" name="Shape 444"/>
          <p:cNvSpPr/>
          <p:nvPr/>
        </p:nvSpPr>
        <p:spPr>
          <a:xfrm>
            <a:off x="976579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7" name="Shape 445"/>
          <p:cNvSpPr/>
          <p:nvPr/>
        </p:nvSpPr>
        <p:spPr>
          <a:xfrm>
            <a:off x="991209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8" name="Shape 446"/>
          <p:cNvSpPr/>
          <p:nvPr/>
        </p:nvSpPr>
        <p:spPr>
          <a:xfrm>
            <a:off x="1005840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9" name="Shape 447"/>
          <p:cNvSpPr/>
          <p:nvPr/>
        </p:nvSpPr>
        <p:spPr>
          <a:xfrm>
            <a:off x="10204704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0" name="Shape 448"/>
          <p:cNvSpPr/>
          <p:nvPr/>
        </p:nvSpPr>
        <p:spPr>
          <a:xfrm>
            <a:off x="1035100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1" name="Shape 449"/>
          <p:cNvSpPr/>
          <p:nvPr/>
        </p:nvSpPr>
        <p:spPr>
          <a:xfrm>
            <a:off x="1049731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2" name="Shape 450"/>
          <p:cNvSpPr/>
          <p:nvPr/>
        </p:nvSpPr>
        <p:spPr>
          <a:xfrm>
            <a:off x="1064361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3" name="Shape 451"/>
          <p:cNvSpPr/>
          <p:nvPr/>
        </p:nvSpPr>
        <p:spPr>
          <a:xfrm>
            <a:off x="10789920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4" name="Shape 452"/>
          <p:cNvSpPr/>
          <p:nvPr/>
        </p:nvSpPr>
        <p:spPr>
          <a:xfrm>
            <a:off x="10936224" y="369417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5" name="Shape 453"/>
          <p:cNvSpPr/>
          <p:nvPr/>
        </p:nvSpPr>
        <p:spPr>
          <a:xfrm>
            <a:off x="11082528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6" name="Shape 454"/>
          <p:cNvSpPr/>
          <p:nvPr/>
        </p:nvSpPr>
        <p:spPr>
          <a:xfrm>
            <a:off x="11228832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7" name="Shape 455"/>
          <p:cNvSpPr/>
          <p:nvPr/>
        </p:nvSpPr>
        <p:spPr>
          <a:xfrm>
            <a:off x="11375136" y="369417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8" name="Shape 456"/>
          <p:cNvSpPr/>
          <p:nvPr/>
        </p:nvSpPr>
        <p:spPr>
          <a:xfrm>
            <a:off x="713232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9" name="Shape 457"/>
          <p:cNvSpPr/>
          <p:nvPr/>
        </p:nvSpPr>
        <p:spPr>
          <a:xfrm>
            <a:off x="727862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0" name="Shape 458"/>
          <p:cNvSpPr/>
          <p:nvPr/>
        </p:nvSpPr>
        <p:spPr>
          <a:xfrm>
            <a:off x="742492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1" name="Shape 459"/>
          <p:cNvSpPr/>
          <p:nvPr/>
        </p:nvSpPr>
        <p:spPr>
          <a:xfrm>
            <a:off x="757123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2" name="Shape 460"/>
          <p:cNvSpPr/>
          <p:nvPr/>
        </p:nvSpPr>
        <p:spPr>
          <a:xfrm>
            <a:off x="771753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3" name="Shape 461"/>
          <p:cNvSpPr/>
          <p:nvPr/>
        </p:nvSpPr>
        <p:spPr>
          <a:xfrm>
            <a:off x="786384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4" name="Shape 462"/>
          <p:cNvSpPr/>
          <p:nvPr/>
        </p:nvSpPr>
        <p:spPr>
          <a:xfrm>
            <a:off x="801014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5" name="Shape 463"/>
          <p:cNvSpPr/>
          <p:nvPr/>
        </p:nvSpPr>
        <p:spPr>
          <a:xfrm>
            <a:off x="815644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6" name="Shape 464"/>
          <p:cNvSpPr/>
          <p:nvPr/>
        </p:nvSpPr>
        <p:spPr>
          <a:xfrm>
            <a:off x="830275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Shape 465"/>
          <p:cNvSpPr/>
          <p:nvPr/>
        </p:nvSpPr>
        <p:spPr>
          <a:xfrm>
            <a:off x="844905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8" name="Shape 466"/>
          <p:cNvSpPr/>
          <p:nvPr/>
        </p:nvSpPr>
        <p:spPr>
          <a:xfrm>
            <a:off x="859536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9" name="Shape 467"/>
          <p:cNvSpPr/>
          <p:nvPr/>
        </p:nvSpPr>
        <p:spPr>
          <a:xfrm>
            <a:off x="874166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0" name="Shape 468"/>
          <p:cNvSpPr/>
          <p:nvPr/>
        </p:nvSpPr>
        <p:spPr>
          <a:xfrm>
            <a:off x="888796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1" name="Shape 469"/>
          <p:cNvSpPr/>
          <p:nvPr/>
        </p:nvSpPr>
        <p:spPr>
          <a:xfrm>
            <a:off x="903427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2" name="Shape 470"/>
          <p:cNvSpPr/>
          <p:nvPr/>
        </p:nvSpPr>
        <p:spPr>
          <a:xfrm>
            <a:off x="918057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3" name="Shape 471"/>
          <p:cNvSpPr/>
          <p:nvPr/>
        </p:nvSpPr>
        <p:spPr>
          <a:xfrm>
            <a:off x="932688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4" name="Shape 472"/>
          <p:cNvSpPr/>
          <p:nvPr/>
        </p:nvSpPr>
        <p:spPr>
          <a:xfrm>
            <a:off x="947318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Shape 473"/>
          <p:cNvSpPr/>
          <p:nvPr/>
        </p:nvSpPr>
        <p:spPr>
          <a:xfrm>
            <a:off x="961948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6" name="Shape 474"/>
          <p:cNvSpPr/>
          <p:nvPr/>
        </p:nvSpPr>
        <p:spPr>
          <a:xfrm>
            <a:off x="976579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7" name="Shape 475"/>
          <p:cNvSpPr/>
          <p:nvPr/>
        </p:nvSpPr>
        <p:spPr>
          <a:xfrm>
            <a:off x="991209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8" name="Shape 476"/>
          <p:cNvSpPr/>
          <p:nvPr/>
        </p:nvSpPr>
        <p:spPr>
          <a:xfrm>
            <a:off x="1005840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9" name="Shape 477"/>
          <p:cNvSpPr/>
          <p:nvPr/>
        </p:nvSpPr>
        <p:spPr>
          <a:xfrm>
            <a:off x="1020470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0" name="Shape 478"/>
          <p:cNvSpPr/>
          <p:nvPr/>
        </p:nvSpPr>
        <p:spPr>
          <a:xfrm>
            <a:off x="1035100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1" name="Shape 479"/>
          <p:cNvSpPr/>
          <p:nvPr/>
        </p:nvSpPr>
        <p:spPr>
          <a:xfrm>
            <a:off x="1049731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2" name="Shape 480"/>
          <p:cNvSpPr/>
          <p:nvPr/>
        </p:nvSpPr>
        <p:spPr>
          <a:xfrm>
            <a:off x="1064361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3" name="Shape 481"/>
          <p:cNvSpPr/>
          <p:nvPr/>
        </p:nvSpPr>
        <p:spPr>
          <a:xfrm>
            <a:off x="10789920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4" name="Shape 482"/>
          <p:cNvSpPr/>
          <p:nvPr/>
        </p:nvSpPr>
        <p:spPr>
          <a:xfrm>
            <a:off x="10936224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5" name="Shape 483"/>
          <p:cNvSpPr/>
          <p:nvPr/>
        </p:nvSpPr>
        <p:spPr>
          <a:xfrm>
            <a:off x="11082528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6" name="Shape 484"/>
          <p:cNvSpPr/>
          <p:nvPr/>
        </p:nvSpPr>
        <p:spPr>
          <a:xfrm>
            <a:off x="11228832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7" name="Shape 485"/>
          <p:cNvSpPr/>
          <p:nvPr/>
        </p:nvSpPr>
        <p:spPr>
          <a:xfrm>
            <a:off x="11375136" y="384048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8" name="Shape 486"/>
          <p:cNvSpPr/>
          <p:nvPr/>
        </p:nvSpPr>
        <p:spPr>
          <a:xfrm>
            <a:off x="7132320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9" name="Shape 487"/>
          <p:cNvSpPr/>
          <p:nvPr/>
        </p:nvSpPr>
        <p:spPr>
          <a:xfrm>
            <a:off x="727862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0" name="Shape 488"/>
          <p:cNvSpPr/>
          <p:nvPr/>
        </p:nvSpPr>
        <p:spPr>
          <a:xfrm>
            <a:off x="742492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1" name="Shape 489"/>
          <p:cNvSpPr/>
          <p:nvPr/>
        </p:nvSpPr>
        <p:spPr>
          <a:xfrm>
            <a:off x="757123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2" name="Shape 490"/>
          <p:cNvSpPr/>
          <p:nvPr/>
        </p:nvSpPr>
        <p:spPr>
          <a:xfrm>
            <a:off x="771753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3" name="Shape 491"/>
          <p:cNvSpPr/>
          <p:nvPr/>
        </p:nvSpPr>
        <p:spPr>
          <a:xfrm>
            <a:off x="7863840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4" name="Shape 492"/>
          <p:cNvSpPr/>
          <p:nvPr/>
        </p:nvSpPr>
        <p:spPr>
          <a:xfrm>
            <a:off x="801014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5" name="Shape 493"/>
          <p:cNvSpPr/>
          <p:nvPr/>
        </p:nvSpPr>
        <p:spPr>
          <a:xfrm>
            <a:off x="815644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6" name="Shape 494"/>
          <p:cNvSpPr/>
          <p:nvPr/>
        </p:nvSpPr>
        <p:spPr>
          <a:xfrm>
            <a:off x="830275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7" name="Shape 495"/>
          <p:cNvSpPr/>
          <p:nvPr/>
        </p:nvSpPr>
        <p:spPr>
          <a:xfrm>
            <a:off x="844905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8" name="Shape 496"/>
          <p:cNvSpPr/>
          <p:nvPr/>
        </p:nvSpPr>
        <p:spPr>
          <a:xfrm>
            <a:off x="8595360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9" name="Shape 497"/>
          <p:cNvSpPr/>
          <p:nvPr/>
        </p:nvSpPr>
        <p:spPr>
          <a:xfrm>
            <a:off x="874166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" name="Shape 498"/>
          <p:cNvSpPr/>
          <p:nvPr/>
        </p:nvSpPr>
        <p:spPr>
          <a:xfrm>
            <a:off x="888796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" name="Shape 499"/>
          <p:cNvSpPr/>
          <p:nvPr/>
        </p:nvSpPr>
        <p:spPr>
          <a:xfrm>
            <a:off x="903427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" name="Shape 500"/>
          <p:cNvSpPr/>
          <p:nvPr/>
        </p:nvSpPr>
        <p:spPr>
          <a:xfrm>
            <a:off x="918057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" name="Shape 501"/>
          <p:cNvSpPr/>
          <p:nvPr/>
        </p:nvSpPr>
        <p:spPr>
          <a:xfrm>
            <a:off x="9326880" y="3986784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" name="Shape 502"/>
          <p:cNvSpPr/>
          <p:nvPr/>
        </p:nvSpPr>
        <p:spPr>
          <a:xfrm>
            <a:off x="947318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" name="Shape 503"/>
          <p:cNvSpPr/>
          <p:nvPr/>
        </p:nvSpPr>
        <p:spPr>
          <a:xfrm>
            <a:off x="961948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" name="Shape 504"/>
          <p:cNvSpPr/>
          <p:nvPr/>
        </p:nvSpPr>
        <p:spPr>
          <a:xfrm>
            <a:off x="976579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" name="Shape 505"/>
          <p:cNvSpPr/>
          <p:nvPr/>
        </p:nvSpPr>
        <p:spPr>
          <a:xfrm>
            <a:off x="991209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" name="Shape 506"/>
          <p:cNvSpPr/>
          <p:nvPr/>
        </p:nvSpPr>
        <p:spPr>
          <a:xfrm>
            <a:off x="10058400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" name="Shape 507"/>
          <p:cNvSpPr/>
          <p:nvPr/>
        </p:nvSpPr>
        <p:spPr>
          <a:xfrm>
            <a:off x="1020470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0" name="Shape 508"/>
          <p:cNvSpPr/>
          <p:nvPr/>
        </p:nvSpPr>
        <p:spPr>
          <a:xfrm>
            <a:off x="1035100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Shape 509"/>
          <p:cNvSpPr/>
          <p:nvPr/>
        </p:nvSpPr>
        <p:spPr>
          <a:xfrm>
            <a:off x="1049731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2" name="Shape 510"/>
          <p:cNvSpPr/>
          <p:nvPr/>
        </p:nvSpPr>
        <p:spPr>
          <a:xfrm>
            <a:off x="1064361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3" name="Shape 511"/>
          <p:cNvSpPr/>
          <p:nvPr/>
        </p:nvSpPr>
        <p:spPr>
          <a:xfrm>
            <a:off x="10789920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4" name="Shape 512"/>
          <p:cNvSpPr/>
          <p:nvPr/>
        </p:nvSpPr>
        <p:spPr>
          <a:xfrm>
            <a:off x="10936224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5" name="Shape 513"/>
          <p:cNvSpPr/>
          <p:nvPr/>
        </p:nvSpPr>
        <p:spPr>
          <a:xfrm>
            <a:off x="11082528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6" name="Shape 514"/>
          <p:cNvSpPr/>
          <p:nvPr/>
        </p:nvSpPr>
        <p:spPr>
          <a:xfrm>
            <a:off x="11228832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7" name="Shape 515"/>
          <p:cNvSpPr/>
          <p:nvPr/>
        </p:nvSpPr>
        <p:spPr>
          <a:xfrm>
            <a:off x="11375136" y="398678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8" name="Shape 516"/>
          <p:cNvSpPr/>
          <p:nvPr/>
        </p:nvSpPr>
        <p:spPr>
          <a:xfrm>
            <a:off x="713232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Shape 517"/>
          <p:cNvSpPr/>
          <p:nvPr/>
        </p:nvSpPr>
        <p:spPr>
          <a:xfrm>
            <a:off x="727862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0" name="Shape 518"/>
          <p:cNvSpPr/>
          <p:nvPr/>
        </p:nvSpPr>
        <p:spPr>
          <a:xfrm>
            <a:off x="742492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1" name="Shape 519"/>
          <p:cNvSpPr/>
          <p:nvPr/>
        </p:nvSpPr>
        <p:spPr>
          <a:xfrm>
            <a:off x="7571232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2" name="Shape 520"/>
          <p:cNvSpPr/>
          <p:nvPr/>
        </p:nvSpPr>
        <p:spPr>
          <a:xfrm>
            <a:off x="771753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3" name="Shape 521"/>
          <p:cNvSpPr/>
          <p:nvPr/>
        </p:nvSpPr>
        <p:spPr>
          <a:xfrm>
            <a:off x="786384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4" name="Shape 522"/>
          <p:cNvSpPr/>
          <p:nvPr/>
        </p:nvSpPr>
        <p:spPr>
          <a:xfrm>
            <a:off x="801014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5" name="Shape 523"/>
          <p:cNvSpPr/>
          <p:nvPr/>
        </p:nvSpPr>
        <p:spPr>
          <a:xfrm>
            <a:off x="815644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6" name="Shape 524"/>
          <p:cNvSpPr/>
          <p:nvPr/>
        </p:nvSpPr>
        <p:spPr>
          <a:xfrm>
            <a:off x="8302752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7" name="Shape 525"/>
          <p:cNvSpPr/>
          <p:nvPr/>
        </p:nvSpPr>
        <p:spPr>
          <a:xfrm>
            <a:off x="844905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8" name="Shape 526"/>
          <p:cNvSpPr/>
          <p:nvPr/>
        </p:nvSpPr>
        <p:spPr>
          <a:xfrm>
            <a:off x="859536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9" name="Shape 527"/>
          <p:cNvSpPr/>
          <p:nvPr/>
        </p:nvSpPr>
        <p:spPr>
          <a:xfrm>
            <a:off x="874166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0" name="Shape 528"/>
          <p:cNvSpPr/>
          <p:nvPr/>
        </p:nvSpPr>
        <p:spPr>
          <a:xfrm>
            <a:off x="888796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1" name="Shape 529"/>
          <p:cNvSpPr/>
          <p:nvPr/>
        </p:nvSpPr>
        <p:spPr>
          <a:xfrm>
            <a:off x="9034272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2" name="Shape 530"/>
          <p:cNvSpPr/>
          <p:nvPr/>
        </p:nvSpPr>
        <p:spPr>
          <a:xfrm>
            <a:off x="918057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3" name="Shape 531"/>
          <p:cNvSpPr/>
          <p:nvPr/>
        </p:nvSpPr>
        <p:spPr>
          <a:xfrm>
            <a:off x="932688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4" name="Shape 532"/>
          <p:cNvSpPr/>
          <p:nvPr/>
        </p:nvSpPr>
        <p:spPr>
          <a:xfrm>
            <a:off x="947318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5" name="Shape 533"/>
          <p:cNvSpPr/>
          <p:nvPr/>
        </p:nvSpPr>
        <p:spPr>
          <a:xfrm>
            <a:off x="961948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6" name="Shape 534"/>
          <p:cNvSpPr/>
          <p:nvPr/>
        </p:nvSpPr>
        <p:spPr>
          <a:xfrm>
            <a:off x="9765792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7" name="Shape 535"/>
          <p:cNvSpPr/>
          <p:nvPr/>
        </p:nvSpPr>
        <p:spPr>
          <a:xfrm>
            <a:off x="991209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8" name="Shape 536"/>
          <p:cNvSpPr/>
          <p:nvPr/>
        </p:nvSpPr>
        <p:spPr>
          <a:xfrm>
            <a:off x="1005840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9" name="Shape 537"/>
          <p:cNvSpPr/>
          <p:nvPr/>
        </p:nvSpPr>
        <p:spPr>
          <a:xfrm>
            <a:off x="1020470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0" name="Shape 538"/>
          <p:cNvSpPr/>
          <p:nvPr/>
        </p:nvSpPr>
        <p:spPr>
          <a:xfrm>
            <a:off x="1035100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1" name="Shape 539"/>
          <p:cNvSpPr/>
          <p:nvPr/>
        </p:nvSpPr>
        <p:spPr>
          <a:xfrm>
            <a:off x="10497312" y="413308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2" name="Shape 540"/>
          <p:cNvSpPr/>
          <p:nvPr/>
        </p:nvSpPr>
        <p:spPr>
          <a:xfrm>
            <a:off x="1064361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Shape 541"/>
          <p:cNvSpPr/>
          <p:nvPr/>
        </p:nvSpPr>
        <p:spPr>
          <a:xfrm>
            <a:off x="10789920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4" name="Shape 542"/>
          <p:cNvSpPr/>
          <p:nvPr/>
        </p:nvSpPr>
        <p:spPr>
          <a:xfrm>
            <a:off x="10936224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5" name="Shape 543"/>
          <p:cNvSpPr/>
          <p:nvPr/>
        </p:nvSpPr>
        <p:spPr>
          <a:xfrm>
            <a:off x="11082528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6" name="Shape 544"/>
          <p:cNvSpPr/>
          <p:nvPr/>
        </p:nvSpPr>
        <p:spPr>
          <a:xfrm>
            <a:off x="11228832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7" name="Shape 545"/>
          <p:cNvSpPr/>
          <p:nvPr/>
        </p:nvSpPr>
        <p:spPr>
          <a:xfrm>
            <a:off x="11375136" y="413308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8" name="Shape 546"/>
          <p:cNvSpPr/>
          <p:nvPr/>
        </p:nvSpPr>
        <p:spPr>
          <a:xfrm>
            <a:off x="7132320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Shape 547"/>
          <p:cNvSpPr/>
          <p:nvPr/>
        </p:nvSpPr>
        <p:spPr>
          <a:xfrm>
            <a:off x="7278624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0" name="Shape 548"/>
          <p:cNvSpPr/>
          <p:nvPr/>
        </p:nvSpPr>
        <p:spPr>
          <a:xfrm>
            <a:off x="742492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1" name="Shape 549"/>
          <p:cNvSpPr/>
          <p:nvPr/>
        </p:nvSpPr>
        <p:spPr>
          <a:xfrm>
            <a:off x="757123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2" name="Shape 550"/>
          <p:cNvSpPr/>
          <p:nvPr/>
        </p:nvSpPr>
        <p:spPr>
          <a:xfrm>
            <a:off x="771753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3" name="Shape 551"/>
          <p:cNvSpPr/>
          <p:nvPr/>
        </p:nvSpPr>
        <p:spPr>
          <a:xfrm>
            <a:off x="7863840" y="427939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4" name="Shape 552"/>
          <p:cNvSpPr/>
          <p:nvPr/>
        </p:nvSpPr>
        <p:spPr>
          <a:xfrm>
            <a:off x="8010144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5" name="Shape 553"/>
          <p:cNvSpPr/>
          <p:nvPr/>
        </p:nvSpPr>
        <p:spPr>
          <a:xfrm>
            <a:off x="815644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6" name="Shape 554"/>
          <p:cNvSpPr/>
          <p:nvPr/>
        </p:nvSpPr>
        <p:spPr>
          <a:xfrm>
            <a:off x="830275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7" name="Shape 555"/>
          <p:cNvSpPr/>
          <p:nvPr/>
        </p:nvSpPr>
        <p:spPr>
          <a:xfrm>
            <a:off x="844905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8" name="Shape 556"/>
          <p:cNvSpPr/>
          <p:nvPr/>
        </p:nvSpPr>
        <p:spPr>
          <a:xfrm>
            <a:off x="8595360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9" name="Shape 557"/>
          <p:cNvSpPr/>
          <p:nvPr/>
        </p:nvSpPr>
        <p:spPr>
          <a:xfrm>
            <a:off x="8741664" y="427939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0" name="Shape 558"/>
          <p:cNvSpPr/>
          <p:nvPr/>
        </p:nvSpPr>
        <p:spPr>
          <a:xfrm>
            <a:off x="888796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1" name="Shape 559"/>
          <p:cNvSpPr/>
          <p:nvPr/>
        </p:nvSpPr>
        <p:spPr>
          <a:xfrm>
            <a:off x="903427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2" name="Shape 560"/>
          <p:cNvSpPr/>
          <p:nvPr/>
        </p:nvSpPr>
        <p:spPr>
          <a:xfrm>
            <a:off x="918057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3" name="Shape 561"/>
          <p:cNvSpPr/>
          <p:nvPr/>
        </p:nvSpPr>
        <p:spPr>
          <a:xfrm>
            <a:off x="9326880" y="427939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4" name="Shape 562"/>
          <p:cNvSpPr/>
          <p:nvPr/>
        </p:nvSpPr>
        <p:spPr>
          <a:xfrm>
            <a:off x="9473184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5" name="Shape 563"/>
          <p:cNvSpPr/>
          <p:nvPr/>
        </p:nvSpPr>
        <p:spPr>
          <a:xfrm>
            <a:off x="961948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6" name="Shape 564"/>
          <p:cNvSpPr/>
          <p:nvPr/>
        </p:nvSpPr>
        <p:spPr>
          <a:xfrm>
            <a:off x="976579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7" name="Shape 565"/>
          <p:cNvSpPr/>
          <p:nvPr/>
        </p:nvSpPr>
        <p:spPr>
          <a:xfrm>
            <a:off x="991209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8" name="Shape 566"/>
          <p:cNvSpPr/>
          <p:nvPr/>
        </p:nvSpPr>
        <p:spPr>
          <a:xfrm>
            <a:off x="10058400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9" name="Shape 567"/>
          <p:cNvSpPr/>
          <p:nvPr/>
        </p:nvSpPr>
        <p:spPr>
          <a:xfrm>
            <a:off x="10204704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0" name="Shape 568"/>
          <p:cNvSpPr/>
          <p:nvPr/>
        </p:nvSpPr>
        <p:spPr>
          <a:xfrm>
            <a:off x="1035100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1" name="Shape 569"/>
          <p:cNvSpPr/>
          <p:nvPr/>
        </p:nvSpPr>
        <p:spPr>
          <a:xfrm>
            <a:off x="1049731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2" name="Shape 570"/>
          <p:cNvSpPr/>
          <p:nvPr/>
        </p:nvSpPr>
        <p:spPr>
          <a:xfrm>
            <a:off x="1064361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3" name="Shape 571"/>
          <p:cNvSpPr/>
          <p:nvPr/>
        </p:nvSpPr>
        <p:spPr>
          <a:xfrm>
            <a:off x="10789920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4" name="Shape 572"/>
          <p:cNvSpPr/>
          <p:nvPr/>
        </p:nvSpPr>
        <p:spPr>
          <a:xfrm>
            <a:off x="10936224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5" name="Shape 573"/>
          <p:cNvSpPr/>
          <p:nvPr/>
        </p:nvSpPr>
        <p:spPr>
          <a:xfrm>
            <a:off x="11082528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6" name="Shape 574"/>
          <p:cNvSpPr/>
          <p:nvPr/>
        </p:nvSpPr>
        <p:spPr>
          <a:xfrm>
            <a:off x="11228832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7" name="Shape 575"/>
          <p:cNvSpPr/>
          <p:nvPr/>
        </p:nvSpPr>
        <p:spPr>
          <a:xfrm>
            <a:off x="11375136" y="427939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8" name="Shape 576"/>
          <p:cNvSpPr/>
          <p:nvPr/>
        </p:nvSpPr>
        <p:spPr>
          <a:xfrm>
            <a:off x="7132320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9" name="Shape 577"/>
          <p:cNvSpPr/>
          <p:nvPr/>
        </p:nvSpPr>
        <p:spPr>
          <a:xfrm>
            <a:off x="727862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0" name="Shape 578"/>
          <p:cNvSpPr/>
          <p:nvPr/>
        </p:nvSpPr>
        <p:spPr>
          <a:xfrm>
            <a:off x="742492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1" name="Shape 579"/>
          <p:cNvSpPr/>
          <p:nvPr/>
        </p:nvSpPr>
        <p:spPr>
          <a:xfrm>
            <a:off x="7571232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2" name="Shape 580"/>
          <p:cNvSpPr/>
          <p:nvPr/>
        </p:nvSpPr>
        <p:spPr>
          <a:xfrm>
            <a:off x="771753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3" name="Shape 581"/>
          <p:cNvSpPr/>
          <p:nvPr/>
        </p:nvSpPr>
        <p:spPr>
          <a:xfrm>
            <a:off x="7863840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4" name="Shape 582"/>
          <p:cNvSpPr/>
          <p:nvPr/>
        </p:nvSpPr>
        <p:spPr>
          <a:xfrm>
            <a:off x="801014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5" name="Shape 583"/>
          <p:cNvSpPr/>
          <p:nvPr/>
        </p:nvSpPr>
        <p:spPr>
          <a:xfrm>
            <a:off x="815644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6" name="Shape 584"/>
          <p:cNvSpPr/>
          <p:nvPr/>
        </p:nvSpPr>
        <p:spPr>
          <a:xfrm>
            <a:off x="8302752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7" name="Shape 585"/>
          <p:cNvSpPr/>
          <p:nvPr/>
        </p:nvSpPr>
        <p:spPr>
          <a:xfrm>
            <a:off x="844905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8" name="Shape 586"/>
          <p:cNvSpPr/>
          <p:nvPr/>
        </p:nvSpPr>
        <p:spPr>
          <a:xfrm>
            <a:off x="8595360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9" name="Shape 587"/>
          <p:cNvSpPr/>
          <p:nvPr/>
        </p:nvSpPr>
        <p:spPr>
          <a:xfrm>
            <a:off x="874166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0" name="Shape 588"/>
          <p:cNvSpPr/>
          <p:nvPr/>
        </p:nvSpPr>
        <p:spPr>
          <a:xfrm>
            <a:off x="888796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1" name="Shape 589"/>
          <p:cNvSpPr/>
          <p:nvPr/>
        </p:nvSpPr>
        <p:spPr>
          <a:xfrm>
            <a:off x="9034272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2" name="Shape 590"/>
          <p:cNvSpPr/>
          <p:nvPr/>
        </p:nvSpPr>
        <p:spPr>
          <a:xfrm>
            <a:off x="918057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3" name="Shape 591"/>
          <p:cNvSpPr/>
          <p:nvPr/>
        </p:nvSpPr>
        <p:spPr>
          <a:xfrm>
            <a:off x="9326880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4" name="Shape 592"/>
          <p:cNvSpPr/>
          <p:nvPr/>
        </p:nvSpPr>
        <p:spPr>
          <a:xfrm>
            <a:off x="947318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5" name="Shape 593"/>
          <p:cNvSpPr/>
          <p:nvPr/>
        </p:nvSpPr>
        <p:spPr>
          <a:xfrm>
            <a:off x="961948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6" name="Shape 594"/>
          <p:cNvSpPr/>
          <p:nvPr/>
        </p:nvSpPr>
        <p:spPr>
          <a:xfrm>
            <a:off x="9765792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7" name="Shape 595"/>
          <p:cNvSpPr/>
          <p:nvPr/>
        </p:nvSpPr>
        <p:spPr>
          <a:xfrm>
            <a:off x="991209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8" name="Shape 596"/>
          <p:cNvSpPr/>
          <p:nvPr/>
        </p:nvSpPr>
        <p:spPr>
          <a:xfrm>
            <a:off x="10058400" y="442569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9" name="Shape 597"/>
          <p:cNvSpPr/>
          <p:nvPr/>
        </p:nvSpPr>
        <p:spPr>
          <a:xfrm>
            <a:off x="1020470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0" name="Shape 598"/>
          <p:cNvSpPr/>
          <p:nvPr/>
        </p:nvSpPr>
        <p:spPr>
          <a:xfrm>
            <a:off x="1035100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1" name="Shape 599"/>
          <p:cNvSpPr/>
          <p:nvPr/>
        </p:nvSpPr>
        <p:spPr>
          <a:xfrm>
            <a:off x="10497312" y="442569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2" name="Shape 600"/>
          <p:cNvSpPr/>
          <p:nvPr/>
        </p:nvSpPr>
        <p:spPr>
          <a:xfrm>
            <a:off x="1064361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3" name="Shape 601"/>
          <p:cNvSpPr/>
          <p:nvPr/>
        </p:nvSpPr>
        <p:spPr>
          <a:xfrm>
            <a:off x="10789920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4" name="Shape 602"/>
          <p:cNvSpPr/>
          <p:nvPr/>
        </p:nvSpPr>
        <p:spPr>
          <a:xfrm>
            <a:off x="10936224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5" name="Shape 603"/>
          <p:cNvSpPr/>
          <p:nvPr/>
        </p:nvSpPr>
        <p:spPr>
          <a:xfrm>
            <a:off x="11082528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6" name="Shape 604"/>
          <p:cNvSpPr/>
          <p:nvPr/>
        </p:nvSpPr>
        <p:spPr>
          <a:xfrm>
            <a:off x="11228832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7" name="Shape 605"/>
          <p:cNvSpPr/>
          <p:nvPr/>
        </p:nvSpPr>
        <p:spPr>
          <a:xfrm>
            <a:off x="11375136" y="442569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8" name="Shape 606"/>
          <p:cNvSpPr/>
          <p:nvPr/>
        </p:nvSpPr>
        <p:spPr>
          <a:xfrm>
            <a:off x="713232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9" name="Shape 607"/>
          <p:cNvSpPr/>
          <p:nvPr/>
        </p:nvSpPr>
        <p:spPr>
          <a:xfrm>
            <a:off x="727862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0" name="Shape 608"/>
          <p:cNvSpPr/>
          <p:nvPr/>
        </p:nvSpPr>
        <p:spPr>
          <a:xfrm>
            <a:off x="742492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1" name="Shape 609"/>
          <p:cNvSpPr/>
          <p:nvPr/>
        </p:nvSpPr>
        <p:spPr>
          <a:xfrm>
            <a:off x="757123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2" name="Shape 610"/>
          <p:cNvSpPr/>
          <p:nvPr/>
        </p:nvSpPr>
        <p:spPr>
          <a:xfrm>
            <a:off x="7717536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3" name="Shape 611"/>
          <p:cNvSpPr/>
          <p:nvPr/>
        </p:nvSpPr>
        <p:spPr>
          <a:xfrm>
            <a:off x="786384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4" name="Shape 612"/>
          <p:cNvSpPr/>
          <p:nvPr/>
        </p:nvSpPr>
        <p:spPr>
          <a:xfrm>
            <a:off x="801014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5" name="Shape 613"/>
          <p:cNvSpPr/>
          <p:nvPr/>
        </p:nvSpPr>
        <p:spPr>
          <a:xfrm>
            <a:off x="815644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6" name="Shape 614"/>
          <p:cNvSpPr/>
          <p:nvPr/>
        </p:nvSpPr>
        <p:spPr>
          <a:xfrm>
            <a:off x="830275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7" name="Shape 615"/>
          <p:cNvSpPr/>
          <p:nvPr/>
        </p:nvSpPr>
        <p:spPr>
          <a:xfrm>
            <a:off x="8449056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8" name="Shape 616"/>
          <p:cNvSpPr/>
          <p:nvPr/>
        </p:nvSpPr>
        <p:spPr>
          <a:xfrm>
            <a:off x="859536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9" name="Shape 617"/>
          <p:cNvSpPr/>
          <p:nvPr/>
        </p:nvSpPr>
        <p:spPr>
          <a:xfrm>
            <a:off x="874166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0" name="Shape 618"/>
          <p:cNvSpPr/>
          <p:nvPr/>
        </p:nvSpPr>
        <p:spPr>
          <a:xfrm>
            <a:off x="888796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1" name="Shape 619"/>
          <p:cNvSpPr/>
          <p:nvPr/>
        </p:nvSpPr>
        <p:spPr>
          <a:xfrm>
            <a:off x="903427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2" name="Shape 620"/>
          <p:cNvSpPr/>
          <p:nvPr/>
        </p:nvSpPr>
        <p:spPr>
          <a:xfrm>
            <a:off x="9180576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3" name="Shape 621"/>
          <p:cNvSpPr/>
          <p:nvPr/>
        </p:nvSpPr>
        <p:spPr>
          <a:xfrm>
            <a:off x="932688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4" name="Shape 622"/>
          <p:cNvSpPr/>
          <p:nvPr/>
        </p:nvSpPr>
        <p:spPr>
          <a:xfrm>
            <a:off x="947318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5" name="Shape 623"/>
          <p:cNvSpPr/>
          <p:nvPr/>
        </p:nvSpPr>
        <p:spPr>
          <a:xfrm>
            <a:off x="961948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6" name="Shape 624"/>
          <p:cNvSpPr/>
          <p:nvPr/>
        </p:nvSpPr>
        <p:spPr>
          <a:xfrm>
            <a:off x="976579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7" name="Shape 625"/>
          <p:cNvSpPr/>
          <p:nvPr/>
        </p:nvSpPr>
        <p:spPr>
          <a:xfrm>
            <a:off x="9912096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8" name="Shape 626"/>
          <p:cNvSpPr/>
          <p:nvPr/>
        </p:nvSpPr>
        <p:spPr>
          <a:xfrm>
            <a:off x="1005840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9" name="Shape 627"/>
          <p:cNvSpPr/>
          <p:nvPr/>
        </p:nvSpPr>
        <p:spPr>
          <a:xfrm>
            <a:off x="1020470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0" name="Shape 628"/>
          <p:cNvSpPr/>
          <p:nvPr/>
        </p:nvSpPr>
        <p:spPr>
          <a:xfrm>
            <a:off x="1035100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1" name="Shape 629"/>
          <p:cNvSpPr/>
          <p:nvPr/>
        </p:nvSpPr>
        <p:spPr>
          <a:xfrm>
            <a:off x="1049731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2" name="Shape 630"/>
          <p:cNvSpPr/>
          <p:nvPr/>
        </p:nvSpPr>
        <p:spPr>
          <a:xfrm>
            <a:off x="10643616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3" name="Shape 631"/>
          <p:cNvSpPr/>
          <p:nvPr/>
        </p:nvSpPr>
        <p:spPr>
          <a:xfrm>
            <a:off x="10789920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4" name="Shape 632"/>
          <p:cNvSpPr/>
          <p:nvPr/>
        </p:nvSpPr>
        <p:spPr>
          <a:xfrm>
            <a:off x="10936224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5" name="Shape 633"/>
          <p:cNvSpPr/>
          <p:nvPr/>
        </p:nvSpPr>
        <p:spPr>
          <a:xfrm>
            <a:off x="11082528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6" name="Shape 634"/>
          <p:cNvSpPr/>
          <p:nvPr/>
        </p:nvSpPr>
        <p:spPr>
          <a:xfrm>
            <a:off x="11228832" y="457200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7" name="Shape 635"/>
          <p:cNvSpPr/>
          <p:nvPr/>
        </p:nvSpPr>
        <p:spPr>
          <a:xfrm>
            <a:off x="11375136" y="457200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8" name="Shape 636"/>
          <p:cNvSpPr/>
          <p:nvPr/>
        </p:nvSpPr>
        <p:spPr>
          <a:xfrm>
            <a:off x="713232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9" name="Shape 637"/>
          <p:cNvSpPr/>
          <p:nvPr/>
        </p:nvSpPr>
        <p:spPr>
          <a:xfrm>
            <a:off x="727862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0" name="Shape 638"/>
          <p:cNvSpPr/>
          <p:nvPr/>
        </p:nvSpPr>
        <p:spPr>
          <a:xfrm>
            <a:off x="742492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1" name="Shape 639"/>
          <p:cNvSpPr/>
          <p:nvPr/>
        </p:nvSpPr>
        <p:spPr>
          <a:xfrm>
            <a:off x="757123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2" name="Shape 640"/>
          <p:cNvSpPr/>
          <p:nvPr/>
        </p:nvSpPr>
        <p:spPr>
          <a:xfrm>
            <a:off x="771753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3" name="Shape 641"/>
          <p:cNvSpPr/>
          <p:nvPr/>
        </p:nvSpPr>
        <p:spPr>
          <a:xfrm>
            <a:off x="786384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4" name="Shape 642"/>
          <p:cNvSpPr/>
          <p:nvPr/>
        </p:nvSpPr>
        <p:spPr>
          <a:xfrm>
            <a:off x="801014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5" name="Shape 643"/>
          <p:cNvSpPr/>
          <p:nvPr/>
        </p:nvSpPr>
        <p:spPr>
          <a:xfrm>
            <a:off x="815644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6" name="Shape 644"/>
          <p:cNvSpPr/>
          <p:nvPr/>
        </p:nvSpPr>
        <p:spPr>
          <a:xfrm>
            <a:off x="830275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7" name="Shape 645"/>
          <p:cNvSpPr/>
          <p:nvPr/>
        </p:nvSpPr>
        <p:spPr>
          <a:xfrm>
            <a:off x="844905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8" name="Shape 646"/>
          <p:cNvSpPr/>
          <p:nvPr/>
        </p:nvSpPr>
        <p:spPr>
          <a:xfrm>
            <a:off x="859536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9" name="Shape 647"/>
          <p:cNvSpPr/>
          <p:nvPr/>
        </p:nvSpPr>
        <p:spPr>
          <a:xfrm>
            <a:off x="874166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0" name="Shape 648"/>
          <p:cNvSpPr/>
          <p:nvPr/>
        </p:nvSpPr>
        <p:spPr>
          <a:xfrm>
            <a:off x="888796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1" name="Shape 649"/>
          <p:cNvSpPr/>
          <p:nvPr/>
        </p:nvSpPr>
        <p:spPr>
          <a:xfrm>
            <a:off x="903427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2" name="Shape 650"/>
          <p:cNvSpPr/>
          <p:nvPr/>
        </p:nvSpPr>
        <p:spPr>
          <a:xfrm>
            <a:off x="918057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3" name="Shape 651"/>
          <p:cNvSpPr/>
          <p:nvPr/>
        </p:nvSpPr>
        <p:spPr>
          <a:xfrm>
            <a:off x="932688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4" name="Shape 652"/>
          <p:cNvSpPr/>
          <p:nvPr/>
        </p:nvSpPr>
        <p:spPr>
          <a:xfrm>
            <a:off x="947318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5" name="Shape 653"/>
          <p:cNvSpPr/>
          <p:nvPr/>
        </p:nvSpPr>
        <p:spPr>
          <a:xfrm>
            <a:off x="961948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6" name="Shape 654"/>
          <p:cNvSpPr/>
          <p:nvPr/>
        </p:nvSpPr>
        <p:spPr>
          <a:xfrm>
            <a:off x="976579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7" name="Shape 655"/>
          <p:cNvSpPr/>
          <p:nvPr/>
        </p:nvSpPr>
        <p:spPr>
          <a:xfrm>
            <a:off x="991209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8" name="Shape 656"/>
          <p:cNvSpPr/>
          <p:nvPr/>
        </p:nvSpPr>
        <p:spPr>
          <a:xfrm>
            <a:off x="1005840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9" name="Shape 657"/>
          <p:cNvSpPr/>
          <p:nvPr/>
        </p:nvSpPr>
        <p:spPr>
          <a:xfrm>
            <a:off x="1020470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0" name="Shape 658"/>
          <p:cNvSpPr/>
          <p:nvPr/>
        </p:nvSpPr>
        <p:spPr>
          <a:xfrm>
            <a:off x="1035100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1" name="Shape 659"/>
          <p:cNvSpPr/>
          <p:nvPr/>
        </p:nvSpPr>
        <p:spPr>
          <a:xfrm>
            <a:off x="1049731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2" name="Shape 660"/>
          <p:cNvSpPr/>
          <p:nvPr/>
        </p:nvSpPr>
        <p:spPr>
          <a:xfrm>
            <a:off x="1064361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3" name="Shape 661"/>
          <p:cNvSpPr/>
          <p:nvPr/>
        </p:nvSpPr>
        <p:spPr>
          <a:xfrm>
            <a:off x="10789920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4" name="Shape 662"/>
          <p:cNvSpPr/>
          <p:nvPr/>
        </p:nvSpPr>
        <p:spPr>
          <a:xfrm>
            <a:off x="10936224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5" name="Shape 663"/>
          <p:cNvSpPr/>
          <p:nvPr/>
        </p:nvSpPr>
        <p:spPr>
          <a:xfrm>
            <a:off x="11082528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6" name="Shape 664"/>
          <p:cNvSpPr/>
          <p:nvPr/>
        </p:nvSpPr>
        <p:spPr>
          <a:xfrm>
            <a:off x="11228832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7" name="Shape 665"/>
          <p:cNvSpPr/>
          <p:nvPr/>
        </p:nvSpPr>
        <p:spPr>
          <a:xfrm>
            <a:off x="11375136" y="4718304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8" name="Shape 666"/>
          <p:cNvSpPr/>
          <p:nvPr/>
        </p:nvSpPr>
        <p:spPr>
          <a:xfrm>
            <a:off x="713232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9" name="Shape 667"/>
          <p:cNvSpPr/>
          <p:nvPr/>
        </p:nvSpPr>
        <p:spPr>
          <a:xfrm>
            <a:off x="727862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0" name="Shape 668"/>
          <p:cNvSpPr/>
          <p:nvPr/>
        </p:nvSpPr>
        <p:spPr>
          <a:xfrm>
            <a:off x="742492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1" name="Shape 669"/>
          <p:cNvSpPr/>
          <p:nvPr/>
        </p:nvSpPr>
        <p:spPr>
          <a:xfrm>
            <a:off x="757123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2" name="Shape 670"/>
          <p:cNvSpPr/>
          <p:nvPr/>
        </p:nvSpPr>
        <p:spPr>
          <a:xfrm>
            <a:off x="7717536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3" name="Shape 671"/>
          <p:cNvSpPr/>
          <p:nvPr/>
        </p:nvSpPr>
        <p:spPr>
          <a:xfrm>
            <a:off x="786384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4" name="Shape 672"/>
          <p:cNvSpPr/>
          <p:nvPr/>
        </p:nvSpPr>
        <p:spPr>
          <a:xfrm>
            <a:off x="801014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5" name="Shape 673"/>
          <p:cNvSpPr/>
          <p:nvPr/>
        </p:nvSpPr>
        <p:spPr>
          <a:xfrm>
            <a:off x="815644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6" name="Shape 674"/>
          <p:cNvSpPr/>
          <p:nvPr/>
        </p:nvSpPr>
        <p:spPr>
          <a:xfrm>
            <a:off x="830275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7" name="Shape 675"/>
          <p:cNvSpPr/>
          <p:nvPr/>
        </p:nvSpPr>
        <p:spPr>
          <a:xfrm>
            <a:off x="8449056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8" name="Shape 676"/>
          <p:cNvSpPr/>
          <p:nvPr/>
        </p:nvSpPr>
        <p:spPr>
          <a:xfrm>
            <a:off x="859536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9" name="Shape 677"/>
          <p:cNvSpPr/>
          <p:nvPr/>
        </p:nvSpPr>
        <p:spPr>
          <a:xfrm>
            <a:off x="874166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0" name="Shape 678"/>
          <p:cNvSpPr/>
          <p:nvPr/>
        </p:nvSpPr>
        <p:spPr>
          <a:xfrm>
            <a:off x="888796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1" name="Shape 679"/>
          <p:cNvSpPr/>
          <p:nvPr/>
        </p:nvSpPr>
        <p:spPr>
          <a:xfrm>
            <a:off x="903427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2" name="Shape 680"/>
          <p:cNvSpPr/>
          <p:nvPr/>
        </p:nvSpPr>
        <p:spPr>
          <a:xfrm>
            <a:off x="9180576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3" name="Shape 681"/>
          <p:cNvSpPr/>
          <p:nvPr/>
        </p:nvSpPr>
        <p:spPr>
          <a:xfrm>
            <a:off x="932688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4" name="Shape 682"/>
          <p:cNvSpPr/>
          <p:nvPr/>
        </p:nvSpPr>
        <p:spPr>
          <a:xfrm>
            <a:off x="947318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5" name="Shape 683"/>
          <p:cNvSpPr/>
          <p:nvPr/>
        </p:nvSpPr>
        <p:spPr>
          <a:xfrm>
            <a:off x="961948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6" name="Shape 684"/>
          <p:cNvSpPr/>
          <p:nvPr/>
        </p:nvSpPr>
        <p:spPr>
          <a:xfrm>
            <a:off x="976579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7" name="Shape 685"/>
          <p:cNvSpPr/>
          <p:nvPr/>
        </p:nvSpPr>
        <p:spPr>
          <a:xfrm>
            <a:off x="9912096" y="48646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8" name="Shape 686"/>
          <p:cNvSpPr/>
          <p:nvPr/>
        </p:nvSpPr>
        <p:spPr>
          <a:xfrm>
            <a:off x="1005840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9" name="Shape 687"/>
          <p:cNvSpPr/>
          <p:nvPr/>
        </p:nvSpPr>
        <p:spPr>
          <a:xfrm>
            <a:off x="1020470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0" name="Shape 688"/>
          <p:cNvSpPr/>
          <p:nvPr/>
        </p:nvSpPr>
        <p:spPr>
          <a:xfrm>
            <a:off x="1035100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1" name="Shape 689"/>
          <p:cNvSpPr/>
          <p:nvPr/>
        </p:nvSpPr>
        <p:spPr>
          <a:xfrm>
            <a:off x="1049731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2" name="Shape 690"/>
          <p:cNvSpPr/>
          <p:nvPr/>
        </p:nvSpPr>
        <p:spPr>
          <a:xfrm>
            <a:off x="10643616" y="48646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3" name="Shape 691"/>
          <p:cNvSpPr/>
          <p:nvPr/>
        </p:nvSpPr>
        <p:spPr>
          <a:xfrm>
            <a:off x="10789920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4" name="Shape 692"/>
          <p:cNvSpPr/>
          <p:nvPr/>
        </p:nvSpPr>
        <p:spPr>
          <a:xfrm>
            <a:off x="10936224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5" name="Shape 693"/>
          <p:cNvSpPr/>
          <p:nvPr/>
        </p:nvSpPr>
        <p:spPr>
          <a:xfrm>
            <a:off x="11082528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6" name="Shape 694"/>
          <p:cNvSpPr/>
          <p:nvPr/>
        </p:nvSpPr>
        <p:spPr>
          <a:xfrm>
            <a:off x="11228832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7" name="Shape 695"/>
          <p:cNvSpPr/>
          <p:nvPr/>
        </p:nvSpPr>
        <p:spPr>
          <a:xfrm>
            <a:off x="11375136" y="4864608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8" name="Shape 696"/>
          <p:cNvSpPr/>
          <p:nvPr/>
        </p:nvSpPr>
        <p:spPr>
          <a:xfrm>
            <a:off x="713232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9" name="Shape 697"/>
          <p:cNvSpPr/>
          <p:nvPr/>
        </p:nvSpPr>
        <p:spPr>
          <a:xfrm>
            <a:off x="7278624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0" name="Shape 698"/>
          <p:cNvSpPr/>
          <p:nvPr/>
        </p:nvSpPr>
        <p:spPr>
          <a:xfrm>
            <a:off x="742492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1" name="Shape 699"/>
          <p:cNvSpPr/>
          <p:nvPr/>
        </p:nvSpPr>
        <p:spPr>
          <a:xfrm>
            <a:off x="757123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2" name="Shape 700"/>
          <p:cNvSpPr/>
          <p:nvPr/>
        </p:nvSpPr>
        <p:spPr>
          <a:xfrm>
            <a:off x="771753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3" name="Shape 701"/>
          <p:cNvSpPr/>
          <p:nvPr/>
        </p:nvSpPr>
        <p:spPr>
          <a:xfrm>
            <a:off x="786384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4" name="Shape 702"/>
          <p:cNvSpPr/>
          <p:nvPr/>
        </p:nvSpPr>
        <p:spPr>
          <a:xfrm>
            <a:off x="8010144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5" name="Shape 703"/>
          <p:cNvSpPr/>
          <p:nvPr/>
        </p:nvSpPr>
        <p:spPr>
          <a:xfrm>
            <a:off x="815644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6" name="Shape 704"/>
          <p:cNvSpPr/>
          <p:nvPr/>
        </p:nvSpPr>
        <p:spPr>
          <a:xfrm>
            <a:off x="830275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7" name="Shape 705"/>
          <p:cNvSpPr/>
          <p:nvPr/>
        </p:nvSpPr>
        <p:spPr>
          <a:xfrm>
            <a:off x="844905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8" name="Shape 706"/>
          <p:cNvSpPr/>
          <p:nvPr/>
        </p:nvSpPr>
        <p:spPr>
          <a:xfrm>
            <a:off x="859536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9" name="Shape 707"/>
          <p:cNvSpPr/>
          <p:nvPr/>
        </p:nvSpPr>
        <p:spPr>
          <a:xfrm>
            <a:off x="8741664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0" name="Shape 708"/>
          <p:cNvSpPr/>
          <p:nvPr/>
        </p:nvSpPr>
        <p:spPr>
          <a:xfrm>
            <a:off x="888796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1" name="Shape 709"/>
          <p:cNvSpPr/>
          <p:nvPr/>
        </p:nvSpPr>
        <p:spPr>
          <a:xfrm>
            <a:off x="903427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2" name="Shape 710"/>
          <p:cNvSpPr/>
          <p:nvPr/>
        </p:nvSpPr>
        <p:spPr>
          <a:xfrm>
            <a:off x="918057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3" name="Shape 711"/>
          <p:cNvSpPr/>
          <p:nvPr/>
        </p:nvSpPr>
        <p:spPr>
          <a:xfrm>
            <a:off x="932688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4" name="Shape 712"/>
          <p:cNvSpPr/>
          <p:nvPr/>
        </p:nvSpPr>
        <p:spPr>
          <a:xfrm>
            <a:off x="9473184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5" name="Shape 713"/>
          <p:cNvSpPr/>
          <p:nvPr/>
        </p:nvSpPr>
        <p:spPr>
          <a:xfrm>
            <a:off x="961948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6" name="Shape 714"/>
          <p:cNvSpPr/>
          <p:nvPr/>
        </p:nvSpPr>
        <p:spPr>
          <a:xfrm>
            <a:off x="976579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7" name="Shape 715"/>
          <p:cNvSpPr/>
          <p:nvPr/>
        </p:nvSpPr>
        <p:spPr>
          <a:xfrm>
            <a:off x="991209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8" name="Shape 716"/>
          <p:cNvSpPr/>
          <p:nvPr/>
        </p:nvSpPr>
        <p:spPr>
          <a:xfrm>
            <a:off x="1005840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9" name="Shape 717"/>
          <p:cNvSpPr/>
          <p:nvPr/>
        </p:nvSpPr>
        <p:spPr>
          <a:xfrm>
            <a:off x="10204704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0" name="Shape 718"/>
          <p:cNvSpPr/>
          <p:nvPr/>
        </p:nvSpPr>
        <p:spPr>
          <a:xfrm>
            <a:off x="1035100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1" name="Shape 719"/>
          <p:cNvSpPr/>
          <p:nvPr/>
        </p:nvSpPr>
        <p:spPr>
          <a:xfrm>
            <a:off x="1049731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2" name="Shape 720"/>
          <p:cNvSpPr/>
          <p:nvPr/>
        </p:nvSpPr>
        <p:spPr>
          <a:xfrm>
            <a:off x="1064361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3" name="Shape 721"/>
          <p:cNvSpPr/>
          <p:nvPr/>
        </p:nvSpPr>
        <p:spPr>
          <a:xfrm>
            <a:off x="10789920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4" name="Shape 722"/>
          <p:cNvSpPr/>
          <p:nvPr/>
        </p:nvSpPr>
        <p:spPr>
          <a:xfrm>
            <a:off x="10936224" y="501091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5" name="Shape 723"/>
          <p:cNvSpPr/>
          <p:nvPr/>
        </p:nvSpPr>
        <p:spPr>
          <a:xfrm>
            <a:off x="11082528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6" name="Shape 724"/>
          <p:cNvSpPr/>
          <p:nvPr/>
        </p:nvSpPr>
        <p:spPr>
          <a:xfrm>
            <a:off x="11228832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7" name="Shape 725"/>
          <p:cNvSpPr/>
          <p:nvPr/>
        </p:nvSpPr>
        <p:spPr>
          <a:xfrm>
            <a:off x="11375136" y="5010912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8" name="Shape 726"/>
          <p:cNvSpPr/>
          <p:nvPr/>
        </p:nvSpPr>
        <p:spPr>
          <a:xfrm>
            <a:off x="713232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9" name="Shape 727"/>
          <p:cNvSpPr/>
          <p:nvPr/>
        </p:nvSpPr>
        <p:spPr>
          <a:xfrm>
            <a:off x="727862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0" name="Shape 728"/>
          <p:cNvSpPr/>
          <p:nvPr/>
        </p:nvSpPr>
        <p:spPr>
          <a:xfrm>
            <a:off x="742492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1" name="Shape 729"/>
          <p:cNvSpPr/>
          <p:nvPr/>
        </p:nvSpPr>
        <p:spPr>
          <a:xfrm>
            <a:off x="757123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2" name="Shape 730"/>
          <p:cNvSpPr/>
          <p:nvPr/>
        </p:nvSpPr>
        <p:spPr>
          <a:xfrm>
            <a:off x="7717536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3" name="Shape 731"/>
          <p:cNvSpPr/>
          <p:nvPr/>
        </p:nvSpPr>
        <p:spPr>
          <a:xfrm>
            <a:off x="786384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4" name="Shape 732"/>
          <p:cNvSpPr/>
          <p:nvPr/>
        </p:nvSpPr>
        <p:spPr>
          <a:xfrm>
            <a:off x="801014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5" name="Shape 733"/>
          <p:cNvSpPr/>
          <p:nvPr/>
        </p:nvSpPr>
        <p:spPr>
          <a:xfrm>
            <a:off x="815644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6" name="Shape 734"/>
          <p:cNvSpPr/>
          <p:nvPr/>
        </p:nvSpPr>
        <p:spPr>
          <a:xfrm>
            <a:off x="830275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7" name="Shape 735"/>
          <p:cNvSpPr/>
          <p:nvPr/>
        </p:nvSpPr>
        <p:spPr>
          <a:xfrm>
            <a:off x="8449056" y="515721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8" name="Shape 736"/>
          <p:cNvSpPr/>
          <p:nvPr/>
        </p:nvSpPr>
        <p:spPr>
          <a:xfrm>
            <a:off x="859536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9" name="Shape 737"/>
          <p:cNvSpPr/>
          <p:nvPr/>
        </p:nvSpPr>
        <p:spPr>
          <a:xfrm>
            <a:off x="874166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0" name="Shape 738"/>
          <p:cNvSpPr/>
          <p:nvPr/>
        </p:nvSpPr>
        <p:spPr>
          <a:xfrm>
            <a:off x="888796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1" name="Shape 739"/>
          <p:cNvSpPr/>
          <p:nvPr/>
        </p:nvSpPr>
        <p:spPr>
          <a:xfrm>
            <a:off x="903427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2" name="Shape 740"/>
          <p:cNvSpPr/>
          <p:nvPr/>
        </p:nvSpPr>
        <p:spPr>
          <a:xfrm>
            <a:off x="9180576" y="5157216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3" name="Shape 741"/>
          <p:cNvSpPr/>
          <p:nvPr/>
        </p:nvSpPr>
        <p:spPr>
          <a:xfrm>
            <a:off x="932688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4" name="Shape 742"/>
          <p:cNvSpPr/>
          <p:nvPr/>
        </p:nvSpPr>
        <p:spPr>
          <a:xfrm>
            <a:off x="947318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5" name="Shape 743"/>
          <p:cNvSpPr/>
          <p:nvPr/>
        </p:nvSpPr>
        <p:spPr>
          <a:xfrm>
            <a:off x="961948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6" name="Shape 744"/>
          <p:cNvSpPr/>
          <p:nvPr/>
        </p:nvSpPr>
        <p:spPr>
          <a:xfrm>
            <a:off x="976579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7" name="Shape 745"/>
          <p:cNvSpPr/>
          <p:nvPr/>
        </p:nvSpPr>
        <p:spPr>
          <a:xfrm>
            <a:off x="9912096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8" name="Shape 746"/>
          <p:cNvSpPr/>
          <p:nvPr/>
        </p:nvSpPr>
        <p:spPr>
          <a:xfrm>
            <a:off x="1005840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9" name="Shape 747"/>
          <p:cNvSpPr/>
          <p:nvPr/>
        </p:nvSpPr>
        <p:spPr>
          <a:xfrm>
            <a:off x="1020470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0" name="Shape 748"/>
          <p:cNvSpPr/>
          <p:nvPr/>
        </p:nvSpPr>
        <p:spPr>
          <a:xfrm>
            <a:off x="1035100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1" name="Shape 749"/>
          <p:cNvSpPr/>
          <p:nvPr/>
        </p:nvSpPr>
        <p:spPr>
          <a:xfrm>
            <a:off x="1049731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2" name="Shape 750"/>
          <p:cNvSpPr/>
          <p:nvPr/>
        </p:nvSpPr>
        <p:spPr>
          <a:xfrm>
            <a:off x="10643616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3" name="Shape 751"/>
          <p:cNvSpPr/>
          <p:nvPr/>
        </p:nvSpPr>
        <p:spPr>
          <a:xfrm>
            <a:off x="10789920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4" name="Shape 752"/>
          <p:cNvSpPr/>
          <p:nvPr/>
        </p:nvSpPr>
        <p:spPr>
          <a:xfrm>
            <a:off x="10936224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5" name="Shape 753"/>
          <p:cNvSpPr/>
          <p:nvPr/>
        </p:nvSpPr>
        <p:spPr>
          <a:xfrm>
            <a:off x="11082528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6" name="Shape 754"/>
          <p:cNvSpPr/>
          <p:nvPr/>
        </p:nvSpPr>
        <p:spPr>
          <a:xfrm>
            <a:off x="11228832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7" name="Shape 755"/>
          <p:cNvSpPr/>
          <p:nvPr/>
        </p:nvSpPr>
        <p:spPr>
          <a:xfrm>
            <a:off x="11375136" y="5157216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8" name="Shape 756"/>
          <p:cNvSpPr/>
          <p:nvPr/>
        </p:nvSpPr>
        <p:spPr>
          <a:xfrm>
            <a:off x="7132320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9" name="Shape 757"/>
          <p:cNvSpPr/>
          <p:nvPr/>
        </p:nvSpPr>
        <p:spPr>
          <a:xfrm>
            <a:off x="7278624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0" name="Shape 758"/>
          <p:cNvSpPr/>
          <p:nvPr/>
        </p:nvSpPr>
        <p:spPr>
          <a:xfrm>
            <a:off x="7424928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1" name="Shape 759"/>
          <p:cNvSpPr/>
          <p:nvPr/>
        </p:nvSpPr>
        <p:spPr>
          <a:xfrm>
            <a:off x="7571232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2" name="Shape 760"/>
          <p:cNvSpPr/>
          <p:nvPr/>
        </p:nvSpPr>
        <p:spPr>
          <a:xfrm>
            <a:off x="7717536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3" name="Shape 761"/>
          <p:cNvSpPr/>
          <p:nvPr/>
        </p:nvSpPr>
        <p:spPr>
          <a:xfrm>
            <a:off x="7863840" y="530352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4" name="Shape 762"/>
          <p:cNvSpPr/>
          <p:nvPr/>
        </p:nvSpPr>
        <p:spPr>
          <a:xfrm>
            <a:off x="8010144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5" name="Shape 763"/>
          <p:cNvSpPr/>
          <p:nvPr/>
        </p:nvSpPr>
        <p:spPr>
          <a:xfrm>
            <a:off x="8156448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6" name="Shape 764"/>
          <p:cNvSpPr/>
          <p:nvPr/>
        </p:nvSpPr>
        <p:spPr>
          <a:xfrm>
            <a:off x="8302752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7" name="Shape 765"/>
          <p:cNvSpPr/>
          <p:nvPr/>
        </p:nvSpPr>
        <p:spPr>
          <a:xfrm>
            <a:off x="8449056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8" name="Shape 766"/>
          <p:cNvSpPr/>
          <p:nvPr/>
        </p:nvSpPr>
        <p:spPr>
          <a:xfrm>
            <a:off x="8595360" y="530352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9" name="Text 767"/>
          <p:cNvSpPr txBox="1"/>
          <p:nvPr/>
        </p:nvSpPr>
        <p:spPr>
          <a:xfrm>
            <a:off x="713232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38 of 761 stores (illustrative placement)</a:t>
            </a:r>
            <a:endParaRPr lang="en-US" sz="1200" dirty="0"/>
          </a:p>
        </p:txBody>
      </p:sp>
      <p:sp>
        <p:nvSpPr>
          <p:cNvPr id="770" name="Text 768"/>
          <p:cNvSpPr txBox="1"/>
          <p:nvPr/>
        </p:nvSpPr>
        <p:spPr>
          <a:xfrm>
            <a:off x="640080" y="5669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Worth investigating, not proven causes:</a:t>
            </a:r>
            <a:endParaRPr lang="en-US" sz="1400" dirty="0"/>
          </a:p>
        </p:txBody>
      </p:sp>
      <p:sp>
        <p:nvSpPr>
          <p:cNvPr id="771" name="Text 769"/>
          <p:cNvSpPr txBox="1"/>
          <p:nvPr/>
        </p:nvSpPr>
        <p:spPr>
          <a:xfrm>
            <a:off x="3474720" y="566928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Unusual operating patterns</a:t>
            </a:r>
            <a:endParaRPr lang="en-US" sz="1400" dirty="0"/>
          </a:p>
        </p:txBody>
      </p:sp>
      <p:sp>
        <p:nvSpPr>
          <p:cNvPr id="772" name="Text 770"/>
          <p:cNvSpPr txBox="1"/>
          <p:nvPr/>
        </p:nvSpPr>
        <p:spPr>
          <a:xfrm>
            <a:off x="5532120" y="566928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coverage</a:t>
            </a:r>
            <a:endParaRPr lang="en-US" sz="1400" dirty="0"/>
          </a:p>
        </p:txBody>
      </p:sp>
      <p:sp>
        <p:nvSpPr>
          <p:cNvPr id="773" name="Text 771"/>
          <p:cNvSpPr txBox="1"/>
          <p:nvPr/>
        </p:nvSpPr>
        <p:spPr>
          <a:xfrm>
            <a:off x="7589520" y="566928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Exceptional store scale</a:t>
            </a:r>
            <a:endParaRPr lang="en-US" sz="1400" dirty="0"/>
          </a:p>
        </p:txBody>
      </p:sp>
      <p:sp>
        <p:nvSpPr>
          <p:cNvPr id="774" name="Text 772"/>
          <p:cNvSpPr txBox="1"/>
          <p:nvPr/>
        </p:nvSpPr>
        <p:spPr>
          <a:xfrm>
            <a:off x="9646920" y="5669280"/>
            <a:ext cx="192024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business conditions</a:t>
            </a:r>
            <a:endParaRPr lang="en-US" sz="1400" dirty="0"/>
          </a:p>
        </p:txBody>
      </p:sp>
      <p:sp>
        <p:nvSpPr>
          <p:cNvPr id="7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Segmentation Becomes Valuable When It Changes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SEGMENT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WHAT WE SEE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</a:rPr>
              <a:t>MANAGEMENT DIRECTION (TO VALIDATE)</a:t>
            </a:r>
            <a:endParaRPr lang="en-US" sz="1200" dirty="0"/>
          </a:p>
        </p:txBody>
      </p:sp>
      <p:sp>
        <p:nvSpPr>
          <p:cNvPr id="6" name="Row CLUSTER 0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CLUSTER 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24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Intermittent / High Volatility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 stores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Intermittent activity, high spend volatility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103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Investigate unusual activity and data coverage before applying standard strategies.</a:t>
            </a:r>
            <a:endParaRPr lang="en-US" sz="1600" dirty="0"/>
          </a:p>
        </p:txBody>
      </p:sp>
      <p:sp>
        <p:nvSpPr>
          <p:cNvPr id="12" name="Row CLUSTER 1"/>
          <p:cNvSpPr/>
          <p:nvPr/>
        </p:nvSpPr>
        <p:spPr>
          <a:xfrm>
            <a:off x="640080" y="338328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14400" y="3611880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CLUSTER 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41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 Volume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424 stores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High sales, broad activity mix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5204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Prioritize service levels, assortment breadth and targeted commercial initiatives, subject to validation.</a:t>
            </a:r>
            <a:endParaRPr lang="en-US" sz="1600" dirty="0"/>
          </a:p>
        </p:txBody>
      </p:sp>
      <p:sp>
        <p:nvSpPr>
          <p:cNvPr id="18" name="Row CLUSTER 2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914400" y="5029200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CLUSTER 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458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 Volume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327 stores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Lower sales and activity, consistent operation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9377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Focus on efficient assortment, cost-conscious execution and selective growth opportunities.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Today's Segmentation Is a Strong Foundation — Not the Final Word</a:t>
            </a:r>
            <a:endParaRPr lang="en-US" sz="3000" dirty="0"/>
          </a:p>
        </p:txBody>
      </p:sp>
      <p:sp>
        <p:nvSpPr>
          <p:cNvPr id="3" name="Limitations card"/>
          <p:cNvSpPr/>
          <p:nvPr/>
        </p:nvSpPr>
        <p:spPr>
          <a:xfrm>
            <a:off x="640080" y="164592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62B3D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48716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234440" y="23774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Data mainly captured sales and activity behavior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234440" y="299923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Promotion response was not directly modeled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730752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234440" y="362102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Detailed pricing behavior was not available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352544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234440" y="42428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Stockout / inventory variables were not available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974336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234440" y="48646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Distribution variables were not directly modeled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596128"/>
            <a:ext cx="128016" cy="12801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234440" y="54864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Clustering is descriptive, not causal</a:t>
            </a:r>
            <a:endParaRPr lang="en-US" sz="1600" dirty="0"/>
          </a:p>
        </p:txBody>
      </p:sp>
      <p:sp>
        <p:nvSpPr>
          <p:cNvPr id="17" name="Roadmap card"/>
          <p:cNvSpPr/>
          <p:nvPr/>
        </p:nvSpPr>
        <p:spPr>
          <a:xfrm>
            <a:off x="6309360" y="164592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EVOLUTION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739128" y="2578608"/>
            <a:ext cx="0" cy="318211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47688" y="24688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04088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 promotion response 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47688" y="299923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040880" y="2907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 pricing elasticity / price index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7688" y="352958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040880" y="34381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 inventory and stockout behavior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47688" y="405993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040880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 geographic / distribution signals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47688" y="459028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040880" y="4498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Add true category / premium-value mix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47688" y="51206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040880" y="5029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Introduce time-aware segmentation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47688" y="565099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040880" y="5559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Build automated segment-level recommendations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57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From Transactions to Store Intelligence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761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stores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886200" y="1645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5"/>
                </a:solidFill>
              </a:rPr>
              <a:t>→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actionable behavioral segments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645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5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14630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38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stores requiring deeper investigation</a:t>
            </a:r>
            <a:endParaRPr lang="en-US" sz="1800" dirty="0"/>
          </a:p>
        </p:txBody>
      </p:sp>
      <p:sp>
        <p:nvSpPr>
          <p:cNvPr id="11" name="Final metric K-MEANS"/>
          <p:cNvSpPr/>
          <p:nvPr/>
        </p:nvSpPr>
        <p:spPr>
          <a:xfrm>
            <a:off x="640080" y="34290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K-MEANS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13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k = 3</a:t>
            </a:r>
            <a:endParaRPr lang="en-US" sz="2800" dirty="0"/>
          </a:p>
        </p:txBody>
      </p:sp>
      <p:sp>
        <p:nvSpPr>
          <p:cNvPr id="14" name="Final metric SILHOUETTE"/>
          <p:cNvSpPr/>
          <p:nvPr/>
        </p:nvSpPr>
        <p:spPr>
          <a:xfrm>
            <a:off x="3413730" y="34290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642330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SILHOUETTE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42330" y="3813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0.4857</a:t>
            </a:r>
            <a:endParaRPr lang="en-US" sz="2800" dirty="0"/>
          </a:p>
        </p:txBody>
      </p:sp>
      <p:sp>
        <p:nvSpPr>
          <p:cNvPr id="17" name="Final metric MEAN ARI"/>
          <p:cNvSpPr/>
          <p:nvPr/>
        </p:nvSpPr>
        <p:spPr>
          <a:xfrm>
            <a:off x="6187379" y="34290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15979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MEAN ARI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5979" y="3813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0.7853</a:t>
            </a:r>
            <a:endParaRPr lang="en-US" sz="2800" dirty="0"/>
          </a:p>
        </p:txBody>
      </p:sp>
      <p:sp>
        <p:nvSpPr>
          <p:cNvPr id="20" name="Final metric OUTLIERS"/>
          <p:cNvSpPr/>
          <p:nvPr/>
        </p:nvSpPr>
        <p:spPr>
          <a:xfrm>
            <a:off x="8961029" y="342900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189629" y="3566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OUTLIERS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629" y="3813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38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634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The value is not simply clustering stores.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It is giving the business a structured way to decide where different strategies may be appropriate.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19088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FreshBasket">
  <a:themeElements>
    <a:clrScheme name="FreshBasket">
      <a:dk1>
        <a:srgbClr val="062B3D"/>
      </a:dk1>
      <a:lt1>
        <a:srgbClr val="FFFFFF"/>
      </a:lt1>
      <a:dk2>
        <a:srgbClr val="00695C"/>
      </a:dk2>
      <a:lt2>
        <a:srgbClr val="F7F9F8"/>
      </a:lt2>
      <a:accent1>
        <a:srgbClr val="9CC52B"/>
      </a:accent1>
      <a:accent2>
        <a:srgbClr val="00695C"/>
      </a:accent2>
      <a:accent3>
        <a:srgbClr val="6F8088"/>
      </a:accent3>
      <a:accent4>
        <a:srgbClr val="0B3A50"/>
      </a:accent4>
      <a:accent5>
        <a:srgbClr val="2E8B7E"/>
      </a:accent5>
      <a:accent6>
        <a:srgbClr val="DCE6E2"/>
      </a:accent6>
      <a:hlink>
        <a:srgbClr val="00695C"/>
      </a:hlink>
      <a:folHlink>
        <a:srgbClr val="6F8088"/>
      </a:folHlink>
    </a:clrScheme>
    <a:fontScheme name="FreshBaske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2118</Words>
  <Application>Microsoft Office PowerPoint</Application>
  <PresentationFormat>Widescreen</PresentationFormat>
  <Paragraphs>293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FreshBasket</vt:lpstr>
      <vt:lpstr>PowerPoint Presentation</vt:lpstr>
      <vt:lpstr>Not Every Store Should Be Managed the Same Way</vt:lpstr>
      <vt:lpstr>From 31M+ Transactions to 761 Store Profiles</vt:lpstr>
      <vt:lpstr>We Clustered Behavior — Not Raw Transactions</vt:lpstr>
      <vt:lpstr>Finding Segments That Are Both Statistical and Useful</vt:lpstr>
      <vt:lpstr>The Highest Silhouette Wasn't the Best Business Answer</vt:lpstr>
      <vt:lpstr>Three Distinct Store Behaviors Emerged</vt:lpstr>
      <vt:lpstr>Behavioral Differences Are Visible in the Data</vt:lpstr>
      <vt:lpstr>38 Stores Behave Differently Even Within Their Segment</vt:lpstr>
      <vt:lpstr>Segmentation Becomes Valuable When It Changes Decisions</vt:lpstr>
      <vt:lpstr>Today's Segmentation Is a Strong Foundation — Not the Final Word</vt:lpstr>
      <vt:lpstr>From Transactions to Store Intelligence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FRESHBASKET Store Intelligence</dc:title>
  <dc:subject>PptxGenJS Presentation</dc:subject>
  <dc:creator>Vijay M</dc:creator>
  <cp:lastModifiedBy>Vijay M</cp:lastModifiedBy>
  <cp:revision>2</cp:revision>
  <dcterms:created xsi:type="dcterms:W3CDTF">2026-10-07T10:23:16Z</dcterms:created>
  <dcterms:modified xsi:type="dcterms:W3CDTF">2026-10-07T11:44:44Z</dcterms:modified>
</cp:coreProperties>
</file>